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B807"/>
    <a:srgbClr val="F6EB0A"/>
    <a:srgbClr val="829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-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D49C"/>
              </a:solidFill>
              <a:ln w="25400" cap="flat">
                <a:solidFill>
                  <a:srgbClr val="15263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65-42F4-A0D8-B2CD57719F5A}"/>
              </c:ext>
            </c:extLst>
          </c:dPt>
          <c:dPt>
            <c:idx val="1"/>
            <c:bubble3D val="0"/>
            <c:spPr>
              <a:solidFill>
                <a:srgbClr val="EF5B5B"/>
              </a:solidFill>
              <a:ln w="25400" cap="flat">
                <a:solidFill>
                  <a:srgbClr val="15263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E65-42F4-A0D8-B2CD57719F5A}"/>
              </c:ext>
            </c:extLst>
          </c:dPt>
          <c:cat>
            <c:strRef>
              <c:f>Sheet1!$A$2:$A$3</c:f>
              <c:strCache>
                <c:ptCount val="2"/>
                <c:pt idx="0">
                  <c:v>Passed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104</c:v>
                </c:pt>
                <c:pt idx="1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65-42F4-A0D8-B2CD57719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9E1"/>
              </a:solidFill>
              <a:ln w="25400" cap="flat">
                <a:solidFill>
                  <a:srgbClr val="15263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E87-4F6F-9350-57E508331C35}"/>
              </c:ext>
            </c:extLst>
          </c:dPt>
          <c:dPt>
            <c:idx val="1"/>
            <c:bubble3D val="0"/>
            <c:spPr>
              <a:solidFill>
                <a:srgbClr val="2BD49C"/>
              </a:solidFill>
              <a:ln w="25400" cap="flat">
                <a:solidFill>
                  <a:srgbClr val="15263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E87-4F6F-9350-57E508331C35}"/>
              </c:ext>
            </c:extLst>
          </c:dPt>
          <c:dPt>
            <c:idx val="2"/>
            <c:bubble3D val="0"/>
            <c:spPr>
              <a:solidFill>
                <a:srgbClr val="A78BFA"/>
              </a:solidFill>
              <a:ln w="25400" cap="flat">
                <a:solidFill>
                  <a:srgbClr val="15263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3E87-4F6F-9350-57E508331C35}"/>
              </c:ext>
            </c:extLst>
          </c:dPt>
          <c:dPt>
            <c:idx val="3"/>
            <c:bubble3D val="0"/>
            <c:spPr>
              <a:solidFill>
                <a:srgbClr val="F2994A"/>
              </a:solidFill>
              <a:ln w="25400" cap="flat">
                <a:solidFill>
                  <a:srgbClr val="15263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3E87-4F6F-9350-57E508331C35}"/>
              </c:ext>
            </c:extLst>
          </c:dPt>
          <c:cat>
            <c:strRef>
              <c:f>Sheet1!$A$2:$A$5</c:f>
              <c:strCache>
                <c:ptCount val="4"/>
                <c:pt idx="0">
                  <c:v>Admin</c:v>
                </c:pt>
                <c:pt idx="1">
                  <c:v>Login &amp; Registration</c:v>
                </c:pt>
                <c:pt idx="2">
                  <c:v>Doctor</c:v>
                </c:pt>
                <c:pt idx="3">
                  <c:v>Patient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22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E87-4F6F-9350-57E508331C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367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1230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822960"/>
            <a:ext cx="2743200" cy="2743200"/>
          </a:xfrm>
          <a:prstGeom prst="ellipse">
            <a:avLst/>
          </a:prstGeom>
          <a:solidFill>
            <a:srgbClr val="1546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0" y="-411480"/>
            <a:ext cx="1737360" cy="173736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27A9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img/icon-pie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85216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123048"/>
          </a:solidFill>
          <a:ln w="12700">
            <a:solidFill>
              <a:srgbClr val="27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mg/icon-pie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chemeClr val="bg1"/>
                </a:solidFill>
              </a:rPr>
              <a:t>LambdaTest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6583680" y="566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 ·  TEST CLOSURE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Closure Report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LambdaTest</a:t>
            </a:r>
            <a:r>
              <a:rPr lang="en-US" dirty="0">
                <a:solidFill>
                  <a:schemeClr val="bg1"/>
                </a:solidFill>
              </a:rPr>
              <a:t> eCommerce Playground</a:t>
            </a:r>
            <a:r>
              <a:rPr lang="en-US" sz="1600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QA Cycle Summary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67512" y="34290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67512" y="35570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</a:rPr>
              <a:t>145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667512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660904" y="34290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660904" y="35570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D49C"/>
                </a:solidFill>
                <a:latin typeface="Cambria" pitchFamily="34" charset="0"/>
                <a:ea typeface="Cambria" pitchFamily="34" charset="-122"/>
              </a:rPr>
              <a:t>104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2660904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654296" y="34290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654296" y="35570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5B5B"/>
                </a:solidFill>
                <a:latin typeface="Cambria" pitchFamily="34" charset="0"/>
                <a:ea typeface="Cambria" pitchFamily="34" charset="-122"/>
              </a:rPr>
              <a:t>41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4654296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647688" y="34290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647688" y="35570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71.7%</a:t>
            </a:r>
            <a:endParaRPr lang="en-US" sz="3000" dirty="0">
              <a:solidFill>
                <a:srgbClr val="FFC000"/>
              </a:solidFill>
            </a:endParaRPr>
          </a:p>
        </p:txBody>
      </p:sp>
      <p:sp>
        <p:nvSpPr>
          <p:cNvPr id="24" name="Text 20"/>
          <p:cNvSpPr/>
          <p:nvPr/>
        </p:nvSpPr>
        <p:spPr>
          <a:xfrm>
            <a:off x="6647688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QA Team   |   Test Types: Manual &amp; Automation   |   30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Overview</a:t>
            </a:r>
            <a:endParaRPr lang="en-US" sz="3200" dirty="0"/>
          </a:p>
        </p:txBody>
      </p:sp>
      <p:sp>
        <p:nvSpPr>
          <p:cNvPr id="102" name="Text 102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walkthrough of the LambdaTest eCommerce QA program</a:t>
            </a:r>
            <a:endParaRPr lang="en-US" sz="1300" dirty="0"/>
          </a:p>
        </p:txBody>
      </p:sp>
      <p:sp>
        <p:nvSpPr>
          <p:cNvPr id="103" name="Shape 103"/>
          <p:cNvSpPr/>
          <p:nvPr/>
        </p:nvSpPr>
        <p:spPr>
          <a:xfrm>
            <a:off x="502920" y="1417320"/>
            <a:ext cx="3954780" cy="10223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Text 104"/>
          <p:cNvSpPr/>
          <p:nvPr/>
        </p:nvSpPr>
        <p:spPr>
          <a:xfrm>
            <a:off x="7315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5" name="Text 105"/>
          <p:cNvSpPr/>
          <p:nvPr/>
        </p:nvSpPr>
        <p:spPr>
          <a:xfrm>
            <a:off x="1463040" y="1600200"/>
            <a:ext cx="27660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Approach &amp; Strategy</a:t>
            </a:r>
            <a:endParaRPr lang="en-US" sz="1300" dirty="0"/>
          </a:p>
        </p:txBody>
      </p:sp>
      <p:sp>
        <p:nvSpPr>
          <p:cNvPr id="106" name="Text 106"/>
          <p:cNvSpPr/>
          <p:nvPr/>
        </p:nvSpPr>
        <p:spPr>
          <a:xfrm>
            <a:off x="731520" y="2286000"/>
            <a:ext cx="3497580" cy="16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objectives, ISTQB process, levels &amp; techniques</a:t>
            </a:r>
            <a:endParaRPr lang="en-US" sz="1000" dirty="0"/>
          </a:p>
        </p:txBody>
      </p:sp>
      <p:sp>
        <p:nvSpPr>
          <p:cNvPr id="107" name="Shape 107"/>
          <p:cNvSpPr/>
          <p:nvPr/>
        </p:nvSpPr>
        <p:spPr>
          <a:xfrm>
            <a:off x="4686300" y="1417320"/>
            <a:ext cx="3954780" cy="10223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Text 108"/>
          <p:cNvSpPr/>
          <p:nvPr/>
        </p:nvSpPr>
        <p:spPr>
          <a:xfrm>
            <a:off x="49149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9" name="Text 109"/>
          <p:cNvSpPr/>
          <p:nvPr/>
        </p:nvSpPr>
        <p:spPr>
          <a:xfrm>
            <a:off x="5646420" y="1600200"/>
            <a:ext cx="27660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Cycle: Test Closure Report</a:t>
            </a:r>
            <a:endParaRPr lang="en-US" sz="1300" dirty="0"/>
          </a:p>
        </p:txBody>
      </p:sp>
      <p:sp>
        <p:nvSpPr>
          <p:cNvPr id="110" name="Text 110"/>
          <p:cNvSpPr/>
          <p:nvPr/>
        </p:nvSpPr>
        <p:spPr>
          <a:xfrm>
            <a:off x="4914900" y="2286000"/>
            <a:ext cx="3497580" cy="16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execution results, coverage &amp; defects (Slides 8-12)</a:t>
            </a:r>
            <a:endParaRPr lang="en-US" sz="1000" dirty="0"/>
          </a:p>
        </p:txBody>
      </p:sp>
      <p:sp>
        <p:nvSpPr>
          <p:cNvPr id="111" name="Shape 111"/>
          <p:cNvSpPr/>
          <p:nvPr/>
        </p:nvSpPr>
        <p:spPr>
          <a:xfrm>
            <a:off x="502920" y="2668270"/>
            <a:ext cx="3954780" cy="10223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Text 112"/>
          <p:cNvSpPr/>
          <p:nvPr/>
        </p:nvSpPr>
        <p:spPr>
          <a:xfrm>
            <a:off x="731520" y="285115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3" name="Text 113"/>
          <p:cNvSpPr/>
          <p:nvPr/>
        </p:nvSpPr>
        <p:spPr>
          <a:xfrm>
            <a:off x="1463040" y="2851150"/>
            <a:ext cx="27660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</a:t>
            </a:r>
            <a:endParaRPr lang="en-US" sz="1300" dirty="0"/>
          </a:p>
        </p:txBody>
      </p:sp>
      <p:sp>
        <p:nvSpPr>
          <p:cNvPr id="114" name="Text 114"/>
          <p:cNvSpPr/>
          <p:nvPr/>
        </p:nvSpPr>
        <p:spPr>
          <a:xfrm>
            <a:off x="731520" y="3536950"/>
            <a:ext cx="3497580" cy="16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architecture, tooling &amp; execution workflow</a:t>
            </a:r>
            <a:endParaRPr lang="en-US" sz="1000" dirty="0"/>
          </a:p>
        </p:txBody>
      </p:sp>
      <p:sp>
        <p:nvSpPr>
          <p:cNvPr id="115" name="Shape 115"/>
          <p:cNvSpPr/>
          <p:nvPr/>
        </p:nvSpPr>
        <p:spPr>
          <a:xfrm>
            <a:off x="4686300" y="2668270"/>
            <a:ext cx="3954780" cy="10223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Text 116"/>
          <p:cNvSpPr/>
          <p:nvPr/>
        </p:nvSpPr>
        <p:spPr>
          <a:xfrm>
            <a:off x="4914900" y="285115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17" name="Text 117"/>
          <p:cNvSpPr/>
          <p:nvPr/>
        </p:nvSpPr>
        <p:spPr>
          <a:xfrm>
            <a:off x="5646420" y="2851150"/>
            <a:ext cx="27660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&amp; Defect Management</a:t>
            </a:r>
            <a:endParaRPr lang="en-US" sz="1300" dirty="0"/>
          </a:p>
        </p:txBody>
      </p:sp>
      <p:sp>
        <p:nvSpPr>
          <p:cNvPr id="118" name="Text 118"/>
          <p:cNvSpPr/>
          <p:nvPr/>
        </p:nvSpPr>
        <p:spPr>
          <a:xfrm>
            <a:off x="4914900" y="3536950"/>
            <a:ext cx="3497580" cy="16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cases and the defect lifecycle</a:t>
            </a:r>
            <a:endParaRPr lang="en-US" sz="1000" dirty="0"/>
          </a:p>
        </p:txBody>
      </p:sp>
      <p:sp>
        <p:nvSpPr>
          <p:cNvPr id="119" name="Shape 119"/>
          <p:cNvSpPr/>
          <p:nvPr/>
        </p:nvSpPr>
        <p:spPr>
          <a:xfrm>
            <a:off x="502920" y="3919220"/>
            <a:ext cx="3954780" cy="10223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0" name="Text 120"/>
          <p:cNvSpPr/>
          <p:nvPr/>
        </p:nvSpPr>
        <p:spPr>
          <a:xfrm>
            <a:off x="731520" y="41021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21" name="Text 121"/>
          <p:cNvSpPr/>
          <p:nvPr/>
        </p:nvSpPr>
        <p:spPr>
          <a:xfrm>
            <a:off x="1463040" y="4102100"/>
            <a:ext cx="27660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Metrics</a:t>
            </a:r>
            <a:endParaRPr lang="en-US" sz="1300" dirty="0"/>
          </a:p>
        </p:txBody>
      </p:sp>
      <p:sp>
        <p:nvSpPr>
          <p:cNvPr id="122" name="Text 122"/>
          <p:cNvSpPr/>
          <p:nvPr/>
        </p:nvSpPr>
        <p:spPr>
          <a:xfrm>
            <a:off x="731520" y="4787900"/>
            <a:ext cx="3497580" cy="16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Entry/exit criteria, risks and test metrics</a:t>
            </a:r>
            <a:endParaRPr lang="en-US" sz="1000" dirty="0"/>
          </a:p>
        </p:txBody>
      </p:sp>
      <p:sp>
        <p:nvSpPr>
          <p:cNvPr id="123" name="Shape 123"/>
          <p:cNvSpPr/>
          <p:nvPr/>
        </p:nvSpPr>
        <p:spPr>
          <a:xfrm>
            <a:off x="4686300" y="3919220"/>
            <a:ext cx="3954780" cy="10223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4" name="Text 124"/>
          <p:cNvSpPr/>
          <p:nvPr/>
        </p:nvSpPr>
        <p:spPr>
          <a:xfrm>
            <a:off x="4914900" y="41021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125" name="Text 125"/>
          <p:cNvSpPr/>
          <p:nvPr/>
        </p:nvSpPr>
        <p:spPr>
          <a:xfrm>
            <a:off x="5646420" y="4102100"/>
            <a:ext cx="27660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126" name="Text 126"/>
          <p:cNvSpPr/>
          <p:nvPr/>
        </p:nvSpPr>
        <p:spPr>
          <a:xfrm>
            <a:off x="4914900" y="4787900"/>
            <a:ext cx="3497580" cy="16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lessons learned &amp; future improvements</a:t>
            </a:r>
            <a:endParaRPr lang="en-U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127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Application Under Test</a:t>
            </a:r>
            <a:endParaRPr lang="en-US" sz="3200" dirty="0"/>
          </a:p>
        </p:txBody>
      </p:sp>
      <p:sp>
        <p:nvSpPr>
          <p:cNvPr id="128" name="Text 128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tested, and why</a:t>
            </a:r>
            <a:endParaRPr lang="en-US" sz="1300" dirty="0"/>
          </a:p>
        </p:txBody>
      </p:sp>
      <p:sp>
        <p:nvSpPr>
          <p:cNvPr id="129" name="Shape 129"/>
          <p:cNvSpPr/>
          <p:nvPr/>
        </p:nvSpPr>
        <p:spPr>
          <a:xfrm>
            <a:off x="50292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0" name="Image 130" descr="icon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131" name="Text 131"/>
          <p:cNvSpPr/>
          <p:nvPr/>
        </p:nvSpPr>
        <p:spPr>
          <a:xfrm>
            <a:off x="731520" y="214884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132" name="Text 132"/>
          <p:cNvSpPr/>
          <p:nvPr/>
        </p:nvSpPr>
        <p:spPr>
          <a:xfrm>
            <a:off x="731520" y="2468880"/>
            <a:ext cx="3497580" cy="224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manual + automation QA initiative validating the LambdaTest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Playground demo storefront ahead of a release sign-off.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 a 4-person QA team covering search, cart, checkout and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with results consolidated into this Test Closure Report.</a:t>
            </a:r>
            <a:endParaRPr lang="en-US" sz="1100" dirty="0"/>
          </a:p>
        </p:txBody>
      </p:sp>
      <p:sp>
        <p:nvSpPr>
          <p:cNvPr id="133" name="Shape 133"/>
          <p:cNvSpPr/>
          <p:nvPr/>
        </p:nvSpPr>
        <p:spPr>
          <a:xfrm>
            <a:off x="468630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4" name="Image 134" descr="icon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645920"/>
            <a:ext cx="411480" cy="411480"/>
          </a:xfrm>
          <a:prstGeom prst="rect">
            <a:avLst/>
          </a:prstGeom>
        </p:spPr>
      </p:pic>
      <p:sp>
        <p:nvSpPr>
          <p:cNvPr id="135" name="Text 135"/>
          <p:cNvSpPr/>
          <p:nvPr/>
        </p:nvSpPr>
        <p:spPr>
          <a:xfrm>
            <a:off x="4914900" y="214884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 (AUT)</a:t>
            </a:r>
            <a:endParaRPr lang="en-US" sz="1400" dirty="0"/>
          </a:p>
        </p:txBody>
      </p:sp>
      <p:sp>
        <p:nvSpPr>
          <p:cNvPr id="136" name="Text 136"/>
          <p:cNvSpPr/>
          <p:nvPr/>
        </p:nvSpPr>
        <p:spPr>
          <a:xfrm>
            <a:off x="4914900" y="2468880"/>
            <a:ext cx="3497580" cy="224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ecommerce-playground.lambdatest.io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OpenCart-based demo eCommerce storefront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flows: Search &amp; Browse, Cart &amp; Wishlist, Checkout,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Registration, Order History &amp; Returns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137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Objectives &amp; Scope</a:t>
            </a:r>
            <a:endParaRPr lang="en-US" sz="3200" dirty="0"/>
          </a:p>
        </p:txBody>
      </p:sp>
      <p:sp>
        <p:nvSpPr>
          <p:cNvPr id="138" name="Text 138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QA cycle set out to achieve, and its boundaries</a:t>
            </a:r>
            <a:endParaRPr lang="en-US" sz="1300" dirty="0"/>
          </a:p>
        </p:txBody>
      </p:sp>
      <p:sp>
        <p:nvSpPr>
          <p:cNvPr id="139" name="Shape 139"/>
          <p:cNvSpPr/>
          <p:nvPr/>
        </p:nvSpPr>
        <p:spPr>
          <a:xfrm>
            <a:off x="50292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0" name="Image 140" descr="icon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141" name="Text 141"/>
          <p:cNvSpPr/>
          <p:nvPr/>
        </p:nvSpPr>
        <p:spPr>
          <a:xfrm>
            <a:off x="731520" y="214884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Objectives</a:t>
            </a:r>
            <a:endParaRPr lang="en-US" sz="1400" dirty="0"/>
          </a:p>
        </p:txBody>
      </p:sp>
      <p:sp>
        <p:nvSpPr>
          <p:cNvPr id="142" name="Text 142"/>
          <p:cNvSpPr/>
          <p:nvPr/>
        </p:nvSpPr>
        <p:spPr>
          <a:xfrm>
            <a:off x="731520" y="2468880"/>
            <a:ext cx="3497580" cy="224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core shopping workflows meet functional requirements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log defects before release sign-off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an automated regression suite for core journeys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data-driven Go / No-Go recommendation</a:t>
            </a:r>
            <a:endParaRPr lang="en-US" sz="1100" dirty="0"/>
          </a:p>
        </p:txBody>
      </p:sp>
      <p:sp>
        <p:nvSpPr>
          <p:cNvPr id="143" name="Shape 143"/>
          <p:cNvSpPr/>
          <p:nvPr/>
        </p:nvSpPr>
        <p:spPr>
          <a:xfrm>
            <a:off x="4686300" y="1417320"/>
            <a:ext cx="3954780" cy="164782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4" name="Text 144"/>
          <p:cNvSpPr/>
          <p:nvPr/>
        </p:nvSpPr>
        <p:spPr>
          <a:xfrm>
            <a:off x="4914900" y="164592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145" name="Text 145"/>
          <p:cNvSpPr/>
          <p:nvPr/>
        </p:nvSpPr>
        <p:spPr>
          <a:xfrm>
            <a:off x="4914900" y="1965960"/>
            <a:ext cx="3497580" cy="87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Registration &amp; Account Mgmt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Search, Browsing &amp; PDP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Wishlist &amp; Checkout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&amp; Returns</a:t>
            </a:r>
            <a:endParaRPr lang="en-US" sz="1100" dirty="0"/>
          </a:p>
        </p:txBody>
      </p:sp>
      <p:sp>
        <p:nvSpPr>
          <p:cNvPr id="146" name="Shape 146"/>
          <p:cNvSpPr/>
          <p:nvPr/>
        </p:nvSpPr>
        <p:spPr>
          <a:xfrm>
            <a:off x="4686300" y="3293745"/>
            <a:ext cx="3954780" cy="164782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7" name="Text 147"/>
          <p:cNvSpPr/>
          <p:nvPr/>
        </p:nvSpPr>
        <p:spPr>
          <a:xfrm>
            <a:off x="4914900" y="3522345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148" name="Text 148"/>
          <p:cNvSpPr/>
          <p:nvPr/>
        </p:nvSpPr>
        <p:spPr>
          <a:xfrm>
            <a:off x="4914900" y="3842385"/>
            <a:ext cx="3497580" cy="87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integrations (sandboxed)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back-office panel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load testing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marketing integrations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149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Strategy &amp; Test Levels</a:t>
            </a:r>
            <a:endParaRPr lang="en-US" sz="3200" dirty="0"/>
          </a:p>
        </p:txBody>
      </p:sp>
      <p:sp>
        <p:nvSpPr>
          <p:cNvPr id="150" name="Text 150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test levels applied across the QA cycle</a:t>
            </a:r>
            <a:endParaRPr lang="en-US" sz="1300" dirty="0"/>
          </a:p>
        </p:txBody>
      </p:sp>
      <p:sp>
        <p:nvSpPr>
          <p:cNvPr id="151" name="Shape 151"/>
          <p:cNvSpPr/>
          <p:nvPr/>
        </p:nvSpPr>
        <p:spPr>
          <a:xfrm>
            <a:off x="502920" y="1417320"/>
            <a:ext cx="2560320" cy="160020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Text 152"/>
          <p:cNvSpPr/>
          <p:nvPr/>
        </p:nvSpPr>
        <p:spPr>
          <a:xfrm>
            <a:off x="73152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Testing</a:t>
            </a:r>
            <a:endParaRPr lang="en-US" sz="1300" dirty="0"/>
          </a:p>
        </p:txBody>
      </p:sp>
      <p:sp>
        <p:nvSpPr>
          <p:cNvPr id="153" name="Text 153"/>
          <p:cNvSpPr/>
          <p:nvPr/>
        </p:nvSpPr>
        <p:spPr>
          <a:xfrm>
            <a:off x="73152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Page-object methods validated in isolation during automation development.</a:t>
            </a:r>
            <a:endParaRPr lang="en-US" sz="1100" dirty="0"/>
          </a:p>
        </p:txBody>
      </p:sp>
      <p:sp>
        <p:nvSpPr>
          <p:cNvPr id="154" name="Shape 154"/>
          <p:cNvSpPr/>
          <p:nvPr/>
        </p:nvSpPr>
        <p:spPr>
          <a:xfrm>
            <a:off x="3291840" y="1417320"/>
            <a:ext cx="2560320" cy="160020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5" name="Text 155"/>
          <p:cNvSpPr/>
          <p:nvPr/>
        </p:nvSpPr>
        <p:spPr>
          <a:xfrm>
            <a:off x="352044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56" name="Text 156"/>
          <p:cNvSpPr/>
          <p:nvPr/>
        </p:nvSpPr>
        <p:spPr>
          <a:xfrm>
            <a:off x="352044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flows: search -&gt; PDP, cart -&gt; checkout, login -&gt; account.</a:t>
            </a:r>
            <a:endParaRPr lang="en-US" sz="1100" dirty="0"/>
          </a:p>
        </p:txBody>
      </p:sp>
      <p:sp>
        <p:nvSpPr>
          <p:cNvPr id="157" name="Shape 157"/>
          <p:cNvSpPr/>
          <p:nvPr/>
        </p:nvSpPr>
        <p:spPr>
          <a:xfrm>
            <a:off x="6080760" y="1417320"/>
            <a:ext cx="2560320" cy="160020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8" name="Text 158"/>
          <p:cNvSpPr/>
          <p:nvPr/>
        </p:nvSpPr>
        <p:spPr>
          <a:xfrm>
            <a:off x="630936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300" dirty="0"/>
          </a:p>
        </p:txBody>
      </p:sp>
      <p:sp>
        <p:nvSpPr>
          <p:cNvPr id="159" name="Text 159"/>
          <p:cNvSpPr/>
          <p:nvPr/>
        </p:nvSpPr>
        <p:spPr>
          <a:xfrm>
            <a:off x="630936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manual &amp; automated coverage of the full storefront.</a:t>
            </a:r>
            <a:endParaRPr lang="en-US" sz="1100" dirty="0"/>
          </a:p>
        </p:txBody>
      </p:sp>
      <p:sp>
        <p:nvSpPr>
          <p:cNvPr id="160" name="Shape 160"/>
          <p:cNvSpPr/>
          <p:nvPr/>
        </p:nvSpPr>
        <p:spPr>
          <a:xfrm>
            <a:off x="502920" y="3246120"/>
            <a:ext cx="8138160" cy="16954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1" name="Text 161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Risk-Based &amp; Analytical</a:t>
            </a:r>
            <a:endParaRPr lang="en-US" sz="1400" dirty="0"/>
          </a:p>
        </p:txBody>
      </p:sp>
      <p:sp>
        <p:nvSpPr>
          <p:cNvPr id="162" name="Text 162"/>
          <p:cNvSpPr/>
          <p:nvPr/>
        </p:nvSpPr>
        <p:spPr>
          <a:xfrm>
            <a:off x="731520" y="3794760"/>
            <a:ext cx="7680960" cy="91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was concentrated on the modules with the highest transactional risk 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Cart and Authentication - combining scripted manual test cases with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for coverage breadth, and Selenium/TestNG automation for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depth on the most business-critical, stable user journeys.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163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ISTQB Fundamental Test Process</a:t>
            </a:r>
            <a:endParaRPr lang="en-US" sz="3200" dirty="0"/>
          </a:p>
        </p:txBody>
      </p:sp>
      <p:sp>
        <p:nvSpPr>
          <p:cNvPr id="164" name="Text 164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QA cycle was planned, executed and closed</a:t>
            </a:r>
            <a:endParaRPr lang="en-US" sz="1300" dirty="0"/>
          </a:p>
        </p:txBody>
      </p:sp>
      <p:sp>
        <p:nvSpPr>
          <p:cNvPr id="165" name="Shape 165"/>
          <p:cNvSpPr/>
          <p:nvPr/>
        </p:nvSpPr>
        <p:spPr>
          <a:xfrm>
            <a:off x="502920" y="1417320"/>
            <a:ext cx="966651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6" name="Text 166"/>
          <p:cNvSpPr/>
          <p:nvPr/>
        </p:nvSpPr>
        <p:spPr>
          <a:xfrm>
            <a:off x="640080" y="1600200"/>
            <a:ext cx="6923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7" name="Text 167"/>
          <p:cNvSpPr/>
          <p:nvPr/>
        </p:nvSpPr>
        <p:spPr>
          <a:xfrm>
            <a:off x="640080" y="2103120"/>
            <a:ext cx="692331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</p:txBody>
      </p:sp>
      <p:sp>
        <p:nvSpPr>
          <p:cNvPr id="168" name="Text 168"/>
          <p:cNvSpPr/>
          <p:nvPr/>
        </p:nvSpPr>
        <p:spPr>
          <a:xfrm>
            <a:off x="640080" y="2523120"/>
            <a:ext cx="692331" cy="2281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scope, entry/exit criteria &amp; schedule defined.</a:t>
            </a:r>
            <a:endParaRPr lang="en-US" sz="900" dirty="0"/>
          </a:p>
        </p:txBody>
      </p:sp>
      <p:sp>
        <p:nvSpPr>
          <p:cNvPr id="169" name="Shape 169"/>
          <p:cNvSpPr/>
          <p:nvPr/>
        </p:nvSpPr>
        <p:spPr>
          <a:xfrm>
            <a:off x="1698171" y="1417320"/>
            <a:ext cx="966651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0" name="Text 170"/>
          <p:cNvSpPr/>
          <p:nvPr/>
        </p:nvSpPr>
        <p:spPr>
          <a:xfrm>
            <a:off x="1835331" y="1600200"/>
            <a:ext cx="6923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1" name="Text 171"/>
          <p:cNvSpPr/>
          <p:nvPr/>
        </p:nvSpPr>
        <p:spPr>
          <a:xfrm>
            <a:off x="1835331" y="2103120"/>
            <a:ext cx="692331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Control</a:t>
            </a:r>
            <a:endParaRPr lang="en-US" sz="1050" dirty="0"/>
          </a:p>
        </p:txBody>
      </p:sp>
      <p:sp>
        <p:nvSpPr>
          <p:cNvPr id="172" name="Text 172"/>
          <p:cNvSpPr/>
          <p:nvPr/>
        </p:nvSpPr>
        <p:spPr>
          <a:xfrm>
            <a:off x="1835331" y="2523120"/>
            <a:ext cx="692331" cy="2281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tracked against the 145-case plan each cycle.</a:t>
            </a:r>
            <a:endParaRPr lang="en-US" sz="900" dirty="0"/>
          </a:p>
        </p:txBody>
      </p:sp>
      <p:sp>
        <p:nvSpPr>
          <p:cNvPr id="173" name="Shape 173"/>
          <p:cNvSpPr/>
          <p:nvPr/>
        </p:nvSpPr>
        <p:spPr>
          <a:xfrm>
            <a:off x="2893422" y="1417320"/>
            <a:ext cx="966651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4" name="Text 174"/>
          <p:cNvSpPr/>
          <p:nvPr/>
        </p:nvSpPr>
        <p:spPr>
          <a:xfrm>
            <a:off x="3030582" y="1600200"/>
            <a:ext cx="6923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5" name="Text 175"/>
          <p:cNvSpPr/>
          <p:nvPr/>
        </p:nvSpPr>
        <p:spPr>
          <a:xfrm>
            <a:off x="3030582" y="2103120"/>
            <a:ext cx="692331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76" name="Text 176"/>
          <p:cNvSpPr/>
          <p:nvPr/>
        </p:nvSpPr>
        <p:spPr>
          <a:xfrm>
            <a:off x="3030582" y="2523120"/>
            <a:ext cx="692331" cy="2281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reviewed to derive testable conditions.</a:t>
            </a:r>
            <a:endParaRPr lang="en-US" sz="900" dirty="0"/>
          </a:p>
        </p:txBody>
      </p:sp>
      <p:sp>
        <p:nvSpPr>
          <p:cNvPr id="177" name="Shape 177"/>
          <p:cNvSpPr/>
          <p:nvPr/>
        </p:nvSpPr>
        <p:spPr>
          <a:xfrm>
            <a:off x="4088673" y="1417320"/>
            <a:ext cx="966651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8" name="Text 178"/>
          <p:cNvSpPr/>
          <p:nvPr/>
        </p:nvSpPr>
        <p:spPr>
          <a:xfrm>
            <a:off x="4225833" y="1600200"/>
            <a:ext cx="6923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9" name="Text 179"/>
          <p:cNvSpPr/>
          <p:nvPr/>
        </p:nvSpPr>
        <p:spPr>
          <a:xfrm>
            <a:off x="4225833" y="2103120"/>
            <a:ext cx="692331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180" name="Text 180"/>
          <p:cNvSpPr/>
          <p:nvPr/>
        </p:nvSpPr>
        <p:spPr>
          <a:xfrm>
            <a:off x="4225833" y="2523120"/>
            <a:ext cx="692331" cy="2281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&amp; automation scripts designed per module.</a:t>
            </a:r>
            <a:endParaRPr lang="en-US" sz="900" dirty="0"/>
          </a:p>
        </p:txBody>
      </p:sp>
      <p:sp>
        <p:nvSpPr>
          <p:cNvPr id="181" name="Shape 181"/>
          <p:cNvSpPr/>
          <p:nvPr/>
        </p:nvSpPr>
        <p:spPr>
          <a:xfrm>
            <a:off x="5283924" y="1417320"/>
            <a:ext cx="966651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2" name="Text 182"/>
          <p:cNvSpPr/>
          <p:nvPr/>
        </p:nvSpPr>
        <p:spPr>
          <a:xfrm>
            <a:off x="5421084" y="1600200"/>
            <a:ext cx="6923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3" name="Text 183"/>
          <p:cNvSpPr/>
          <p:nvPr/>
        </p:nvSpPr>
        <p:spPr>
          <a:xfrm>
            <a:off x="5421084" y="2103120"/>
            <a:ext cx="692331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184" name="Text 184"/>
          <p:cNvSpPr/>
          <p:nvPr/>
        </p:nvSpPr>
        <p:spPr>
          <a:xfrm>
            <a:off x="5421084" y="2523120"/>
            <a:ext cx="692331" cy="2281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cases finalised; POM automation scripts built.</a:t>
            </a:r>
            <a:endParaRPr lang="en-US" sz="900" dirty="0"/>
          </a:p>
        </p:txBody>
      </p:sp>
      <p:sp>
        <p:nvSpPr>
          <p:cNvPr id="185" name="Shape 185"/>
          <p:cNvSpPr/>
          <p:nvPr/>
        </p:nvSpPr>
        <p:spPr>
          <a:xfrm>
            <a:off x="6479175" y="1417320"/>
            <a:ext cx="966651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6" name="Text 186"/>
          <p:cNvSpPr/>
          <p:nvPr/>
        </p:nvSpPr>
        <p:spPr>
          <a:xfrm>
            <a:off x="6616335" y="1600200"/>
            <a:ext cx="6923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87" name="Text 187"/>
          <p:cNvSpPr/>
          <p:nvPr/>
        </p:nvSpPr>
        <p:spPr>
          <a:xfrm>
            <a:off x="6616335" y="2103120"/>
            <a:ext cx="692331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188" name="Text 188"/>
          <p:cNvSpPr/>
          <p:nvPr/>
        </p:nvSpPr>
        <p:spPr>
          <a:xfrm>
            <a:off x="6616335" y="2523120"/>
            <a:ext cx="692331" cy="2281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case executions across manual &amp; automated suites.</a:t>
            </a:r>
            <a:endParaRPr lang="en-US" sz="900" dirty="0"/>
          </a:p>
        </p:txBody>
      </p:sp>
      <p:sp>
        <p:nvSpPr>
          <p:cNvPr id="189" name="Shape 189"/>
          <p:cNvSpPr/>
          <p:nvPr/>
        </p:nvSpPr>
        <p:spPr>
          <a:xfrm>
            <a:off x="7674426" y="1417320"/>
            <a:ext cx="966651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0" name="Text 190"/>
          <p:cNvSpPr/>
          <p:nvPr/>
        </p:nvSpPr>
        <p:spPr>
          <a:xfrm>
            <a:off x="7811586" y="1600200"/>
            <a:ext cx="6923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91" name="Text 191"/>
          <p:cNvSpPr/>
          <p:nvPr/>
        </p:nvSpPr>
        <p:spPr>
          <a:xfrm>
            <a:off x="7811586" y="2103120"/>
            <a:ext cx="692331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50" dirty="0"/>
          </a:p>
        </p:txBody>
      </p:sp>
      <p:sp>
        <p:nvSpPr>
          <p:cNvPr id="192" name="Text 192"/>
          <p:cNvSpPr/>
          <p:nvPr/>
        </p:nvSpPr>
        <p:spPr>
          <a:xfrm>
            <a:off x="7811586" y="2523120"/>
            <a:ext cx="692331" cy="2281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consolidated into this Test Closure Report.</a:t>
            </a:r>
            <a:endParaRPr lang="en-US" sz="9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193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Types &amp; Design Techniques</a:t>
            </a:r>
            <a:endParaRPr lang="en-US" sz="3200" dirty="0"/>
          </a:p>
        </p:txBody>
      </p:sp>
      <p:sp>
        <p:nvSpPr>
          <p:cNvPr id="194" name="Text 194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approaches used to derive and classify test conditions</a:t>
            </a:r>
            <a:endParaRPr lang="en-US" sz="1300" dirty="0"/>
          </a:p>
        </p:txBody>
      </p:sp>
      <p:sp>
        <p:nvSpPr>
          <p:cNvPr id="195" name="Shape 195"/>
          <p:cNvSpPr/>
          <p:nvPr/>
        </p:nvSpPr>
        <p:spPr>
          <a:xfrm>
            <a:off x="50292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6" name="Text 196"/>
          <p:cNvSpPr/>
          <p:nvPr/>
        </p:nvSpPr>
        <p:spPr>
          <a:xfrm>
            <a:off x="731520" y="164592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 Applied</a:t>
            </a:r>
            <a:endParaRPr lang="en-US" sz="1400" dirty="0"/>
          </a:p>
        </p:txBody>
      </p:sp>
      <p:sp>
        <p:nvSpPr>
          <p:cNvPr id="197" name="Text 197"/>
          <p:cNvSpPr/>
          <p:nvPr/>
        </p:nvSpPr>
        <p:spPr>
          <a:xfrm>
            <a:off x="731520" y="1965960"/>
            <a:ext cx="3497580" cy="274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- workflows validated against requirements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vs. Validation - reviewed test cases against acceptance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criteria, then validated the live application behaviour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(light-touch) - cross-browser checks 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Firefox 149 and Brave 1.89</a:t>
            </a:r>
            <a:endParaRPr lang="en-US" sz="1100" dirty="0"/>
          </a:p>
        </p:txBody>
      </p:sp>
      <p:sp>
        <p:nvSpPr>
          <p:cNvPr id="198" name="Shape 198"/>
          <p:cNvSpPr/>
          <p:nvPr/>
        </p:nvSpPr>
        <p:spPr>
          <a:xfrm>
            <a:off x="468630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9" name="Text 199"/>
          <p:cNvSpPr/>
          <p:nvPr/>
        </p:nvSpPr>
        <p:spPr>
          <a:xfrm>
            <a:off x="4914900" y="164592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 Techniques</a:t>
            </a:r>
            <a:endParaRPr lang="en-US" sz="1400" dirty="0"/>
          </a:p>
        </p:txBody>
      </p:sp>
      <p:sp>
        <p:nvSpPr>
          <p:cNvPr id="200" name="Text 200"/>
          <p:cNvSpPr/>
          <p:nvPr/>
        </p:nvSpPr>
        <p:spPr>
          <a:xfrm>
            <a:off x="4914900" y="1965960"/>
            <a:ext cx="3497580" cy="274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- Equivalence Partitioning &amp; Boundary Value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Analysis on form fields (checkout, registration)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Experience-Based Testing - exploratory sessions that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surfaced the majority of Major/Minor defects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Testing - Checkout &amp; Cart prioritised for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both manual and automated coverage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7512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44168" y="1618488"/>
            <a:ext cx="0" cy="54864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mg/icon-clipboard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172821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84248" y="1545336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84248" y="20025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results &amp; pass rate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73752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550408" y="1618488"/>
            <a:ext cx="0" cy="54864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img/icon-target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72821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90488" y="1545336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Test Approach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190488" y="20025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covered and methods used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2578608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67512" y="2761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1344168" y="2779776"/>
            <a:ext cx="0" cy="54864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deck/img/icon-pie-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48" y="288950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84248" y="2706624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by Module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984248" y="31638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145 test cases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709160" y="2578608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873752" y="2761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5550408" y="2779776"/>
            <a:ext cx="0" cy="54864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/home/claude/deck/img/icon-list-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288" y="2889504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90488" y="2706624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Summary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190488" y="31638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breakdown of issues found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02920" y="3739896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667512" y="39227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Shape 24"/>
          <p:cNvSpPr/>
          <p:nvPr/>
        </p:nvSpPr>
        <p:spPr>
          <a:xfrm>
            <a:off x="1344168" y="3941064"/>
            <a:ext cx="0" cy="54864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/home/claude/deck/img/icon-search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7048" y="4050792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984248" y="386791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Defects in Detail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984248" y="43251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highlighted bug reports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4709160" y="3739896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4873752" y="39227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6" name="Shape 29"/>
          <p:cNvSpPr/>
          <p:nvPr/>
        </p:nvSpPr>
        <p:spPr>
          <a:xfrm>
            <a:off x="5550408" y="3941064"/>
            <a:ext cx="0" cy="54864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/home/claude/deck/img/icon-thumbs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3288" y="4050792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190488" y="386791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6190488" y="43251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 assessment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execution results for the QA 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011680" cy="1463040"/>
          </a:xfrm>
          <a:prstGeom prst="roundRect">
            <a:avLst>
              <a:gd name="adj" fmla="val 5625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img/icon-layers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8288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</a:rPr>
              <a:t>145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97480" y="1417320"/>
            <a:ext cx="2011680" cy="1463040"/>
          </a:xfrm>
          <a:prstGeom prst="roundRect">
            <a:avLst>
              <a:gd name="adj" fmla="val 5625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deck/img/icon-check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6002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18288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BD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269748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035808"/>
            <a:ext cx="2011680" cy="1463040"/>
          </a:xfrm>
          <a:prstGeom prst="roundRect">
            <a:avLst>
              <a:gd name="adj" fmla="val 5625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deck/img/icon-times-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1868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" y="34472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5B5B"/>
                </a:solidFill>
                <a:latin typeface="Cambria" pitchFamily="34" charset="0"/>
                <a:ea typeface="Cambria" pitchFamily="34" charset="-122"/>
              </a:rPr>
              <a:t>41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5029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697480" y="3035808"/>
            <a:ext cx="2011680" cy="1463040"/>
          </a:xfrm>
          <a:prstGeom prst="roundRect">
            <a:avLst>
              <a:gd name="adj" fmla="val 5625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deck/img/icon-target-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321868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697480" y="34472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71.7%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19" name="Text 13"/>
          <p:cNvSpPr/>
          <p:nvPr/>
        </p:nvSpPr>
        <p:spPr>
          <a:xfrm>
            <a:off x="269748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983480" y="1417320"/>
            <a:ext cx="3657600" cy="3081528"/>
          </a:xfrm>
          <a:prstGeom prst="roundRect">
            <a:avLst>
              <a:gd name="adj" fmla="val 267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521208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vs Fail</a:t>
            </a:r>
            <a:endParaRPr lang="en-US" sz="140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1095608854"/>
              </p:ext>
            </p:extLst>
          </p:nvPr>
        </p:nvGraphicFramePr>
        <p:xfrm>
          <a:off x="5074920" y="1874520"/>
          <a:ext cx="23774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Text 16"/>
          <p:cNvSpPr/>
          <p:nvPr/>
        </p:nvSpPr>
        <p:spPr>
          <a:xfrm>
            <a:off x="544068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71.7%</a:t>
            </a:r>
            <a:endParaRPr lang="en-US" sz="2600" dirty="0">
              <a:solidFill>
                <a:srgbClr val="FFC000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2600" dirty="0"/>
          </a:p>
        </p:txBody>
      </p:sp>
      <p:sp>
        <p:nvSpPr>
          <p:cNvPr id="24" name="Shape 17"/>
          <p:cNvSpPr/>
          <p:nvPr/>
        </p:nvSpPr>
        <p:spPr>
          <a:xfrm>
            <a:off x="7635240" y="2331720"/>
            <a:ext cx="146304" cy="146304"/>
          </a:xfrm>
          <a:prstGeom prst="ellipse">
            <a:avLst/>
          </a:prstGeom>
          <a:solidFill>
            <a:srgbClr val="2BD4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786384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 104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635240" y="2788920"/>
            <a:ext cx="146304" cy="146304"/>
          </a:xfrm>
          <a:prstGeom prst="ellipse">
            <a:avLst/>
          </a:prstGeom>
          <a:solidFill>
            <a:srgbClr val="EF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786384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 41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051560" y="4590288"/>
            <a:ext cx="7498080" cy="438912"/>
          </a:xfrm>
          <a:prstGeom prst="rect">
            <a:avLst/>
          </a:prstGeom>
          <a:noFill/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of 71.7%. </a:t>
            </a:r>
            <a:r>
              <a:rPr lang="en-US" sz="1200" dirty="0">
                <a:solidFill>
                  <a:schemeClr val="bg1"/>
                </a:solidFill>
              </a:rPr>
              <a:t>41 test-case failures and exploratory testing produced 60 logged defects — 6 Critical, 27 Major, 27 Minor — pending resolution before sign-off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Test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most-validated and testing methods applied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572000" cy="2788920"/>
          </a:xfrm>
          <a:prstGeom prst="roundRect">
            <a:avLst>
              <a:gd name="adj" fmla="val 295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 Scope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938528"/>
            <a:ext cx="457200" cy="457200"/>
          </a:xfrm>
          <a:prstGeom prst="ellipse">
            <a:avLst/>
          </a:prstGeom>
          <a:solidFill>
            <a:srgbClr val="1C3149"/>
          </a:solidFill>
          <a:ln w="12700">
            <a:solidFill>
              <a:srgbClr val="27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mg/icon-admin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4825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38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Support</a:t>
            </a:r>
          </a:p>
        </p:txBody>
      </p:sp>
      <p:sp>
        <p:nvSpPr>
          <p:cNvPr id="9" name="Text 6"/>
          <p:cNvSpPr/>
          <p:nvPr/>
        </p:nvSpPr>
        <p:spPr>
          <a:xfrm>
            <a:off x="3749040" y="1938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cases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2487168"/>
            <a:ext cx="457200" cy="457200"/>
          </a:xfrm>
          <a:prstGeom prst="ellipse">
            <a:avLst/>
          </a:prstGeom>
          <a:solidFill>
            <a:srgbClr val="1C3149"/>
          </a:solidFill>
          <a:ln w="12700">
            <a:solidFill>
              <a:srgbClr val="2BD4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/img/icon-login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59689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49040" y="2487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cases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3035808"/>
            <a:ext cx="457200" cy="457200"/>
          </a:xfrm>
          <a:prstGeom prst="ellipse">
            <a:avLst/>
          </a:prstGeom>
          <a:solidFill>
            <a:srgbClr val="1C3149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6968" y="314553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035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Browsing</a:t>
            </a:r>
          </a:p>
        </p:txBody>
      </p:sp>
      <p:sp>
        <p:nvSpPr>
          <p:cNvPr id="17" name="Text 12"/>
          <p:cNvSpPr/>
          <p:nvPr/>
        </p:nvSpPr>
        <p:spPr>
          <a:xfrm>
            <a:off x="3749040" y="30358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cases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77240" y="3584448"/>
            <a:ext cx="457200" cy="457200"/>
          </a:xfrm>
          <a:prstGeom prst="ellipse">
            <a:avLst/>
          </a:prstGeom>
          <a:solidFill>
            <a:srgbClr val="1C3149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968" y="369417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584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Wishlist &amp; Checkout</a:t>
            </a:r>
          </a:p>
        </p:txBody>
      </p:sp>
      <p:sp>
        <p:nvSpPr>
          <p:cNvPr id="21" name="Text 15"/>
          <p:cNvSpPr/>
          <p:nvPr/>
        </p:nvSpPr>
        <p:spPr>
          <a:xfrm>
            <a:off x="3749040" y="35844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cases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257800" y="1417320"/>
            <a:ext cx="3383280" cy="1307592"/>
          </a:xfrm>
          <a:prstGeom prst="roundRect">
            <a:avLst>
              <a:gd name="adj" fmla="val 6294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486400" y="1572768"/>
            <a:ext cx="502920" cy="502920"/>
          </a:xfrm>
          <a:prstGeom prst="ellipse">
            <a:avLst/>
          </a:prstGeom>
          <a:solidFill>
            <a:srgbClr val="1C3149"/>
          </a:solidFill>
          <a:ln w="12700">
            <a:solidFill>
              <a:srgbClr val="2BD4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/home/claude/deck/img/icon-hand-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4416" y="1700784"/>
            <a:ext cx="246888" cy="2468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144768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532120" y="2121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&amp; scripted UI test cases across all four modules via the web portals.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257800" y="2898648"/>
            <a:ext cx="3383280" cy="1307592"/>
          </a:xfrm>
          <a:prstGeom prst="roundRect">
            <a:avLst>
              <a:gd name="adj" fmla="val 6294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5486400" y="3054096"/>
            <a:ext cx="502920" cy="502920"/>
          </a:xfrm>
          <a:prstGeom prst="ellipse">
            <a:avLst/>
          </a:prstGeom>
          <a:solidFill>
            <a:srgbClr val="1C3149"/>
          </a:solidFill>
          <a:ln w="12700">
            <a:solidFill>
              <a:srgbClr val="27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/home/claude/deck/img/icon-flask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4416" y="3182112"/>
            <a:ext cx="246888" cy="2468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144768" y="3054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532120" y="36027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8296AD"/>
                </a:solidFill>
              </a:rPr>
              <a:t>Automated execution of regression and smoke test suites to validate core workflows, improve test coverage, and accelerate release cycles.</a:t>
            </a:r>
            <a:endParaRPr lang="en-US" sz="1150" dirty="0">
              <a:solidFill>
                <a:srgbClr val="8296AD"/>
              </a:solidFill>
            </a:endParaRPr>
          </a:p>
        </p:txBody>
      </p:sp>
      <p:sp>
        <p:nvSpPr>
          <p:cNvPr id="32" name="Shape 24"/>
          <p:cNvSpPr/>
          <p:nvPr/>
        </p:nvSpPr>
        <p:spPr>
          <a:xfrm>
            <a:off x="502920" y="4370832"/>
            <a:ext cx="8138160" cy="411480"/>
          </a:xfrm>
          <a:prstGeom prst="roundRect">
            <a:avLst>
              <a:gd name="adj" fmla="val 15556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/home/claude/deck/img/icon-search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4462272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24128" y="4370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Environment: </a:t>
            </a:r>
            <a:r>
              <a:rPr lang="en-US" sz="1200" dirty="0">
                <a:solidFill>
                  <a:schemeClr val="bg1"/>
                </a:solidFill>
              </a:rPr>
              <a:t>ecommerce-playground.lambdatest.io — Firefox 149.0.2 (Windows 10 Pro) &amp; Brave 1.89.137 (Windows 11)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by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the 574 executed test cases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40480" cy="3291840"/>
          </a:xfrm>
          <a:prstGeom prst="roundRect">
            <a:avLst>
              <a:gd name="adj" fmla="val 25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354979327"/>
              </p:ext>
            </p:extLst>
          </p:nvPr>
        </p:nvGraphicFramePr>
        <p:xfrm>
          <a:off x="685800" y="1691640"/>
          <a:ext cx="2468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097280" y="2606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2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337560" y="1874520"/>
            <a:ext cx="128016" cy="128016"/>
          </a:xfrm>
          <a:prstGeom prst="ellipse">
            <a:avLst/>
          </a:prstGeom>
          <a:solidFill>
            <a:srgbClr val="27A9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520440" y="1783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Support</a:t>
            </a:r>
          </a:p>
        </p:txBody>
      </p:sp>
      <p:sp>
        <p:nvSpPr>
          <p:cNvPr id="9" name="Shape 6"/>
          <p:cNvSpPr/>
          <p:nvPr/>
        </p:nvSpPr>
        <p:spPr>
          <a:xfrm>
            <a:off x="3337560" y="2441448"/>
            <a:ext cx="128016" cy="128016"/>
          </a:xfrm>
          <a:prstGeom prst="ellipse">
            <a:avLst/>
          </a:prstGeom>
          <a:solidFill>
            <a:srgbClr val="2BD4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20440" y="23500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3008376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20440" y="29169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Wishlist &amp; Checkout</a:t>
            </a:r>
          </a:p>
        </p:txBody>
      </p:sp>
      <p:sp>
        <p:nvSpPr>
          <p:cNvPr id="13" name="Shape 10"/>
          <p:cNvSpPr/>
          <p:nvPr/>
        </p:nvSpPr>
        <p:spPr>
          <a:xfrm>
            <a:off x="3337560" y="3575304"/>
            <a:ext cx="128016" cy="12801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520440" y="34838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Browsing</a:t>
            </a:r>
          </a:p>
        </p:txBody>
      </p:sp>
      <p:sp>
        <p:nvSpPr>
          <p:cNvPr id="15" name="Shape 12"/>
          <p:cNvSpPr/>
          <p:nvPr/>
        </p:nvSpPr>
        <p:spPr>
          <a:xfrm>
            <a:off x="4572000" y="1463040"/>
            <a:ext cx="4069080" cy="502920"/>
          </a:xfrm>
          <a:prstGeom prst="rect">
            <a:avLst/>
          </a:prstGeom>
          <a:solidFill>
            <a:srgbClr val="27A9E1"/>
          </a:solidFill>
          <a:ln w="635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36592" y="1463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720840" y="14630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680960" y="14630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0" y="1965960"/>
            <a:ext cx="4069080" cy="502920"/>
          </a:xfrm>
          <a:prstGeom prst="rect">
            <a:avLst/>
          </a:prstGeom>
          <a:solidFill>
            <a:srgbClr val="15263B"/>
          </a:solidFill>
          <a:ln w="635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36592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Support</a:t>
            </a:r>
          </a:p>
        </p:txBody>
      </p:sp>
      <p:sp>
        <p:nvSpPr>
          <p:cNvPr id="21" name="Text 18"/>
          <p:cNvSpPr/>
          <p:nvPr/>
        </p:nvSpPr>
        <p:spPr>
          <a:xfrm>
            <a:off x="6720840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680960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29.0%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0" y="2468880"/>
            <a:ext cx="4069080" cy="502920"/>
          </a:xfrm>
          <a:prstGeom prst="rect">
            <a:avLst/>
          </a:prstGeom>
          <a:solidFill>
            <a:srgbClr val="112033"/>
          </a:solidFill>
          <a:ln w="635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36592" y="2468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720840" y="24688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680960" y="24688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0" y="2971800"/>
            <a:ext cx="4069080" cy="502920"/>
          </a:xfrm>
          <a:prstGeom prst="rect">
            <a:avLst/>
          </a:prstGeom>
          <a:solidFill>
            <a:srgbClr val="15263B"/>
          </a:solidFill>
          <a:ln w="635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36592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Wishlist &amp; Checkout</a:t>
            </a:r>
          </a:p>
        </p:txBody>
      </p:sp>
      <p:sp>
        <p:nvSpPr>
          <p:cNvPr id="29" name="Text 26"/>
          <p:cNvSpPr/>
          <p:nvPr/>
        </p:nvSpPr>
        <p:spPr>
          <a:xfrm>
            <a:off x="6720840" y="2971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680960" y="2971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572000" y="3474720"/>
            <a:ext cx="4069080" cy="502920"/>
          </a:xfrm>
          <a:prstGeom prst="rect">
            <a:avLst/>
          </a:prstGeom>
          <a:solidFill>
            <a:srgbClr val="112033"/>
          </a:solidFill>
          <a:ln w="635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736592" y="3474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Browsing</a:t>
            </a:r>
          </a:p>
        </p:txBody>
      </p:sp>
      <p:sp>
        <p:nvSpPr>
          <p:cNvPr id="33" name="Text 30"/>
          <p:cNvSpPr/>
          <p:nvPr/>
        </p:nvSpPr>
        <p:spPr>
          <a:xfrm>
            <a:off x="6720840" y="34747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680960" y="34747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572000" y="3977640"/>
            <a:ext cx="4069080" cy="502920"/>
          </a:xfrm>
          <a:prstGeom prst="rect">
            <a:avLst/>
          </a:prstGeom>
          <a:solidFill>
            <a:srgbClr val="1C3149"/>
          </a:solidFill>
          <a:ln w="635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736592" y="3977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6720840" y="3977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</a:p>
        </p:txBody>
      </p:sp>
      <p:sp>
        <p:nvSpPr>
          <p:cNvPr id="38" name="Text 35"/>
          <p:cNvSpPr/>
          <p:nvPr/>
        </p:nvSpPr>
        <p:spPr>
          <a:xfrm>
            <a:off x="7680960" y="3977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defects identified during execution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108960" cy="3246120"/>
          </a:xfrm>
          <a:prstGeom prst="roundRect">
            <a:avLst>
              <a:gd name="adj" fmla="val 2647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Severity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2651760" cy="713232"/>
          </a:xfrm>
          <a:prstGeom prst="roundRect">
            <a:avLst>
              <a:gd name="adj" fmla="val 8974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350008"/>
            <a:ext cx="146304" cy="146304"/>
          </a:xfrm>
          <a:prstGeom prst="ellipse">
            <a:avLst/>
          </a:prstGeom>
          <a:solidFill>
            <a:srgbClr val="EF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</a:p>
        </p:txBody>
      </p:sp>
      <p:sp>
        <p:nvSpPr>
          <p:cNvPr id="9" name="Text 7"/>
          <p:cNvSpPr/>
          <p:nvPr/>
        </p:nvSpPr>
        <p:spPr>
          <a:xfrm>
            <a:off x="2468880" y="205740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F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898648"/>
            <a:ext cx="2651760" cy="713232"/>
          </a:xfrm>
          <a:prstGeom prst="roundRect">
            <a:avLst>
              <a:gd name="adj" fmla="val 8974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191256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289864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</a:p>
        </p:txBody>
      </p:sp>
      <p:sp>
        <p:nvSpPr>
          <p:cNvPr id="13" name="Text 11"/>
          <p:cNvSpPr/>
          <p:nvPr/>
        </p:nvSpPr>
        <p:spPr>
          <a:xfrm>
            <a:off x="2468880" y="289864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31520" y="3739896"/>
            <a:ext cx="2651760" cy="713232"/>
          </a:xfrm>
          <a:prstGeom prst="roundRect">
            <a:avLst>
              <a:gd name="adj" fmla="val 8974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032504"/>
            <a:ext cx="146304" cy="146304"/>
          </a:xfrm>
          <a:prstGeom prst="ellipse">
            <a:avLst/>
          </a:prstGeom>
          <a:solidFill>
            <a:srgbClr val="2BD4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373989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</a:p>
        </p:txBody>
      </p:sp>
      <p:sp>
        <p:nvSpPr>
          <p:cNvPr id="17" name="Text 15"/>
          <p:cNvSpPr/>
          <p:nvPr/>
        </p:nvSpPr>
        <p:spPr>
          <a:xfrm>
            <a:off x="2468880" y="373989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BD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794760" y="1417320"/>
            <a:ext cx="4846320" cy="3246120"/>
          </a:xfrm>
          <a:prstGeom prst="roundRect">
            <a:avLst>
              <a:gd name="adj" fmla="val 2535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0" y="15727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Logged (60)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23360" y="2057400"/>
            <a:ext cx="4389120" cy="777240"/>
          </a:xfrm>
          <a:prstGeom prst="roundRect">
            <a:avLst>
              <a:gd name="adj" fmla="val 7059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87951" y="2130552"/>
            <a:ext cx="10337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BUG-RE-004</a:t>
            </a:r>
          </a:p>
        </p:txBody>
      </p:sp>
      <p:sp>
        <p:nvSpPr>
          <p:cNvPr id="22" name="Shape 20"/>
          <p:cNvSpPr/>
          <p:nvPr/>
        </p:nvSpPr>
        <p:spPr>
          <a:xfrm>
            <a:off x="7360920" y="230428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60920" y="2304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</a:p>
        </p:txBody>
      </p:sp>
      <p:sp>
        <p:nvSpPr>
          <p:cNvPr id="24" name="Text 22"/>
          <p:cNvSpPr/>
          <p:nvPr/>
        </p:nvSpPr>
        <p:spPr>
          <a:xfrm>
            <a:off x="4187951" y="2368296"/>
            <a:ext cx="2814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mismatch not detected at registration</a:t>
            </a:r>
          </a:p>
        </p:txBody>
      </p:sp>
      <p:sp>
        <p:nvSpPr>
          <p:cNvPr id="25" name="Text 23"/>
          <p:cNvSpPr/>
          <p:nvPr/>
        </p:nvSpPr>
        <p:spPr>
          <a:xfrm>
            <a:off x="4187952" y="25877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</a:p>
        </p:txBody>
      </p:sp>
      <p:sp>
        <p:nvSpPr>
          <p:cNvPr id="26" name="Shape 24"/>
          <p:cNvSpPr/>
          <p:nvPr/>
        </p:nvSpPr>
        <p:spPr>
          <a:xfrm>
            <a:off x="4023360" y="2944368"/>
            <a:ext cx="4389120" cy="777240"/>
          </a:xfrm>
          <a:prstGeom prst="roundRect">
            <a:avLst>
              <a:gd name="adj" fmla="val 7059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187952" y="3017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BUG-PDP-006</a:t>
            </a:r>
          </a:p>
        </p:txBody>
      </p:sp>
      <p:sp>
        <p:nvSpPr>
          <p:cNvPr id="28" name="Shape 26"/>
          <p:cNvSpPr/>
          <p:nvPr/>
        </p:nvSpPr>
        <p:spPr>
          <a:xfrm>
            <a:off x="7360920" y="3191256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60920" y="3191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87952" y="3255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button is non-interactive</a:t>
            </a:r>
          </a:p>
        </p:txBody>
      </p:sp>
      <p:sp>
        <p:nvSpPr>
          <p:cNvPr id="31" name="Text 29"/>
          <p:cNvSpPr/>
          <p:nvPr/>
        </p:nvSpPr>
        <p:spPr>
          <a:xfrm>
            <a:off x="4187952" y="34747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Page</a:t>
            </a:r>
          </a:p>
        </p:txBody>
      </p:sp>
      <p:sp>
        <p:nvSpPr>
          <p:cNvPr id="32" name="Shape 30"/>
          <p:cNvSpPr/>
          <p:nvPr/>
        </p:nvSpPr>
        <p:spPr>
          <a:xfrm>
            <a:off x="4023360" y="3831336"/>
            <a:ext cx="4389120" cy="777240"/>
          </a:xfrm>
          <a:prstGeom prst="roundRect">
            <a:avLst>
              <a:gd name="adj" fmla="val 7059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87952" y="3904488"/>
            <a:ext cx="103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BUG-ORDER-002</a:t>
            </a:r>
          </a:p>
        </p:txBody>
      </p:sp>
      <p:sp>
        <p:nvSpPr>
          <p:cNvPr id="34" name="Shape 32"/>
          <p:cNvSpPr/>
          <p:nvPr/>
        </p:nvSpPr>
        <p:spPr>
          <a:xfrm>
            <a:off x="7360920" y="4078224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60920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</a:p>
        </p:txBody>
      </p:sp>
      <p:sp>
        <p:nvSpPr>
          <p:cNvPr id="36" name="Text 34"/>
          <p:cNvSpPr/>
          <p:nvPr/>
        </p:nvSpPr>
        <p:spPr>
          <a:xfrm>
            <a:off x="4187952" y="4142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quantity can exceed purchased quantity</a:t>
            </a:r>
          </a:p>
        </p:txBody>
      </p:sp>
      <p:sp>
        <p:nvSpPr>
          <p:cNvPr id="37" name="Text 35"/>
          <p:cNvSpPr/>
          <p:nvPr/>
        </p:nvSpPr>
        <p:spPr>
          <a:xfrm>
            <a:off x="4187952" y="43616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· Returns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201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Framework Architecture</a:t>
            </a:r>
            <a:endParaRPr lang="en-US" sz="3200" dirty="0"/>
          </a:p>
        </p:txBody>
      </p:sp>
      <p:sp>
        <p:nvSpPr>
          <p:cNvPr id="202" name="Text 202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+ TestNG, structured with the Page Object Model</a:t>
            </a:r>
            <a:endParaRPr lang="en-US" sz="1300" dirty="0"/>
          </a:p>
        </p:txBody>
      </p:sp>
      <p:sp>
        <p:nvSpPr>
          <p:cNvPr id="203" name="Shape 203"/>
          <p:cNvSpPr/>
          <p:nvPr/>
        </p:nvSpPr>
        <p:spPr>
          <a:xfrm>
            <a:off x="50292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4" name="Image 204" descr="icon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205" name="Text 205"/>
          <p:cNvSpPr/>
          <p:nvPr/>
        </p:nvSpPr>
        <p:spPr>
          <a:xfrm>
            <a:off x="731520" y="214884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400" dirty="0"/>
          </a:p>
        </p:txBody>
      </p:sp>
      <p:sp>
        <p:nvSpPr>
          <p:cNvPr id="206" name="Text 206"/>
          <p:cNvSpPr/>
          <p:nvPr/>
        </p:nvSpPr>
        <p:spPr>
          <a:xfrm>
            <a:off x="731520" y="2468880"/>
            <a:ext cx="3497580" cy="224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(Search, Cart, Checkout, Auth) implements its own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classes exposing user-facing actions (e.g. addToCart(),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searchFor()), keeping locators out of the test layer.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classes assert on state returned by the Page objects,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raw Selenium calls.</a:t>
            </a:r>
            <a:endParaRPr lang="en-US" sz="1100" dirty="0"/>
          </a:p>
        </p:txBody>
      </p:sp>
      <p:sp>
        <p:nvSpPr>
          <p:cNvPr id="207" name="Shape 207"/>
          <p:cNvSpPr/>
          <p:nvPr/>
        </p:nvSpPr>
        <p:spPr>
          <a:xfrm>
            <a:off x="468630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8" name="Image 208" descr="icon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645920"/>
            <a:ext cx="411480" cy="411480"/>
          </a:xfrm>
          <a:prstGeom prst="rect">
            <a:avLst/>
          </a:prstGeom>
        </p:spPr>
      </p:pic>
      <p:sp>
        <p:nvSpPr>
          <p:cNvPr id="209" name="Text 209"/>
          <p:cNvSpPr/>
          <p:nvPr/>
        </p:nvSpPr>
        <p:spPr>
          <a:xfrm>
            <a:off x="4914900" y="214884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Structure</a:t>
            </a:r>
            <a:endParaRPr lang="en-US" sz="1400" dirty="0"/>
          </a:p>
        </p:txBody>
      </p:sp>
      <p:sp>
        <p:nvSpPr>
          <p:cNvPr id="210" name="Text 210"/>
          <p:cNvSpPr/>
          <p:nvPr/>
        </p:nvSpPr>
        <p:spPr>
          <a:xfrm>
            <a:off x="4914900" y="2468880"/>
            <a:ext cx="3497580" cy="224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 - WebDriver lifecycle (@BeforeClass/@BeforeMethod)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- element locators &amp; interactions (Selenium By/WebElement)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- TestNG @Test methods with Assert-based verification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module additionally layers Cucumber Gherkin step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over the same Page Object classes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211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Ownership</a:t>
            </a:r>
            <a:endParaRPr lang="en-US" sz="3200" dirty="0"/>
          </a:p>
        </p:txBody>
      </p:sp>
      <p:sp>
        <p:nvSpPr>
          <p:cNvPr id="212" name="Text 212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Selenium/TestNG mini-project per module, owned by its author</a:t>
            </a:r>
            <a:endParaRPr lang="en-US" sz="1300" dirty="0"/>
          </a:p>
        </p:txBody>
      </p:sp>
      <p:sp>
        <p:nvSpPr>
          <p:cNvPr id="213" name="Shape 213"/>
          <p:cNvSpPr/>
          <p:nvPr/>
        </p:nvSpPr>
        <p:spPr>
          <a:xfrm>
            <a:off x="502920" y="1417320"/>
            <a:ext cx="8138160" cy="709612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4" name="Text 214"/>
          <p:cNvSpPr/>
          <p:nvPr/>
        </p:nvSpPr>
        <p:spPr>
          <a:xfrm>
            <a:off x="731520" y="1417320"/>
            <a:ext cx="18288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Rahman</a:t>
            </a:r>
            <a:endParaRPr lang="en-US" sz="1250" dirty="0"/>
          </a:p>
        </p:txBody>
      </p:sp>
      <p:sp>
        <p:nvSpPr>
          <p:cNvPr id="215" name="Text 215"/>
          <p:cNvSpPr/>
          <p:nvPr/>
        </p:nvSpPr>
        <p:spPr>
          <a:xfrm>
            <a:off x="2560320" y="1417320"/>
            <a:ext cx="22860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 &amp; Browsing</a:t>
            </a:r>
            <a:endParaRPr lang="en-US" sz="1150" dirty="0"/>
          </a:p>
        </p:txBody>
      </p:sp>
      <p:sp>
        <p:nvSpPr>
          <p:cNvPr id="216" name="Text 216"/>
          <p:cNvSpPr/>
          <p:nvPr/>
        </p:nvSpPr>
        <p:spPr>
          <a:xfrm>
            <a:off x="4846320" y="1417320"/>
            <a:ext cx="356616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HomePage, SearchResultPage, CategoryPage, ProductDetailsPage</a:t>
            </a:r>
            <a:endParaRPr lang="en-US" sz="1000" dirty="0"/>
          </a:p>
        </p:txBody>
      </p:sp>
      <p:sp>
        <p:nvSpPr>
          <p:cNvPr id="217" name="Shape 217"/>
          <p:cNvSpPr/>
          <p:nvPr/>
        </p:nvSpPr>
        <p:spPr>
          <a:xfrm>
            <a:off x="502920" y="2355532"/>
            <a:ext cx="8138160" cy="709612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8" name="Text 218"/>
          <p:cNvSpPr/>
          <p:nvPr/>
        </p:nvSpPr>
        <p:spPr>
          <a:xfrm>
            <a:off x="731520" y="2355532"/>
            <a:ext cx="18288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Dahroug</a:t>
            </a:r>
            <a:endParaRPr lang="en-US" sz="1250" dirty="0"/>
          </a:p>
        </p:txBody>
      </p:sp>
      <p:sp>
        <p:nvSpPr>
          <p:cNvPr id="219" name="Text 219"/>
          <p:cNvSpPr/>
          <p:nvPr/>
        </p:nvSpPr>
        <p:spPr>
          <a:xfrm>
            <a:off x="2560320" y="2355532"/>
            <a:ext cx="22860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150" dirty="0"/>
          </a:p>
        </p:txBody>
      </p:sp>
      <p:sp>
        <p:nvSpPr>
          <p:cNvPr id="220" name="Text 220"/>
          <p:cNvSpPr/>
          <p:nvPr/>
        </p:nvSpPr>
        <p:spPr>
          <a:xfrm>
            <a:off x="4846320" y="2355532"/>
            <a:ext cx="356616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HomePage, ShoppingCartPage, LoginPageProject</a:t>
            </a:r>
            <a:endParaRPr lang="en-US" sz="1000" dirty="0"/>
          </a:p>
        </p:txBody>
      </p:sp>
      <p:sp>
        <p:nvSpPr>
          <p:cNvPr id="221" name="Shape 221"/>
          <p:cNvSpPr/>
          <p:nvPr/>
        </p:nvSpPr>
        <p:spPr>
          <a:xfrm>
            <a:off x="502920" y="3293744"/>
            <a:ext cx="8138160" cy="709612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2" name="Text 222"/>
          <p:cNvSpPr/>
          <p:nvPr/>
        </p:nvSpPr>
        <p:spPr>
          <a:xfrm>
            <a:off x="731520" y="3293744"/>
            <a:ext cx="18288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Shahd</a:t>
            </a:r>
            <a:endParaRPr lang="en-US" sz="1250" dirty="0"/>
          </a:p>
        </p:txBody>
      </p:sp>
      <p:sp>
        <p:nvSpPr>
          <p:cNvPr id="223" name="Text 223"/>
          <p:cNvSpPr/>
          <p:nvPr/>
        </p:nvSpPr>
        <p:spPr>
          <a:xfrm>
            <a:off x="2560320" y="3293744"/>
            <a:ext cx="22860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</p:txBody>
      </p:sp>
      <p:sp>
        <p:nvSpPr>
          <p:cNvPr id="224" name="Text 224"/>
          <p:cNvSpPr/>
          <p:nvPr/>
        </p:nvSpPr>
        <p:spPr>
          <a:xfrm>
            <a:off x="4846320" y="3293744"/>
            <a:ext cx="356616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BasePage, HomePage, CartPage, CheckoutPage, ProductPage (+ Cucumber steps)</a:t>
            </a:r>
            <a:endParaRPr lang="en-US" sz="1000" dirty="0"/>
          </a:p>
        </p:txBody>
      </p:sp>
      <p:sp>
        <p:nvSpPr>
          <p:cNvPr id="225" name="Shape 225"/>
          <p:cNvSpPr/>
          <p:nvPr/>
        </p:nvSpPr>
        <p:spPr>
          <a:xfrm>
            <a:off x="502920" y="4231956"/>
            <a:ext cx="8138160" cy="709612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6" name="Text 226"/>
          <p:cNvSpPr/>
          <p:nvPr/>
        </p:nvSpPr>
        <p:spPr>
          <a:xfrm>
            <a:off x="731520" y="4231956"/>
            <a:ext cx="18288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Essam</a:t>
            </a:r>
            <a:endParaRPr lang="en-US" sz="1250" dirty="0"/>
          </a:p>
        </p:txBody>
      </p:sp>
      <p:sp>
        <p:nvSpPr>
          <p:cNvPr id="227" name="Text 227"/>
          <p:cNvSpPr/>
          <p:nvPr/>
        </p:nvSpPr>
        <p:spPr>
          <a:xfrm>
            <a:off x="2560320" y="4231956"/>
            <a:ext cx="22860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228" name="Text 228"/>
          <p:cNvSpPr/>
          <p:nvPr/>
        </p:nvSpPr>
        <p:spPr>
          <a:xfrm>
            <a:off x="4846320" y="4231956"/>
            <a:ext cx="356616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Registration test classes</a:t>
            </a:r>
            <a:endParaRPr lang="en-U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229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Technologies &amp; Test Environment</a:t>
            </a:r>
            <a:endParaRPr lang="en-US" sz="3200" dirty="0"/>
          </a:p>
        </p:txBody>
      </p:sp>
      <p:sp>
        <p:nvSpPr>
          <p:cNvPr id="230" name="Text 230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behind manual and automated execution</a:t>
            </a:r>
            <a:endParaRPr lang="en-US" sz="1300" dirty="0"/>
          </a:p>
        </p:txBody>
      </p:sp>
      <p:sp>
        <p:nvSpPr>
          <p:cNvPr id="231" name="Shape 231"/>
          <p:cNvSpPr/>
          <p:nvPr/>
        </p:nvSpPr>
        <p:spPr>
          <a:xfrm>
            <a:off x="502920" y="1417320"/>
            <a:ext cx="1863090" cy="146240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2" name="Text 232"/>
          <p:cNvSpPr/>
          <p:nvPr/>
        </p:nvSpPr>
        <p:spPr>
          <a:xfrm>
            <a:off x="731520" y="1645920"/>
            <a:ext cx="1405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50" dirty="0"/>
          </a:p>
        </p:txBody>
      </p:sp>
      <p:sp>
        <p:nvSpPr>
          <p:cNvPr id="233" name="Text 233"/>
          <p:cNvSpPr/>
          <p:nvPr/>
        </p:nvSpPr>
        <p:spPr>
          <a:xfrm>
            <a:off x="731520" y="1965960"/>
            <a:ext cx="1405890" cy="685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234" name="Shape 234"/>
          <p:cNvSpPr/>
          <p:nvPr/>
        </p:nvSpPr>
        <p:spPr>
          <a:xfrm>
            <a:off x="2594610" y="1417320"/>
            <a:ext cx="1863090" cy="146240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5" name="Text 235"/>
          <p:cNvSpPr/>
          <p:nvPr/>
        </p:nvSpPr>
        <p:spPr>
          <a:xfrm>
            <a:off x="2823210" y="1645920"/>
            <a:ext cx="1405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150" dirty="0"/>
          </a:p>
        </p:txBody>
      </p:sp>
      <p:sp>
        <p:nvSpPr>
          <p:cNvPr id="236" name="Text 236"/>
          <p:cNvSpPr/>
          <p:nvPr/>
        </p:nvSpPr>
        <p:spPr>
          <a:xfrm>
            <a:off x="2823210" y="1965960"/>
            <a:ext cx="1405890" cy="685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</a:t>
            </a:r>
            <a:endParaRPr lang="en-US" sz="950" dirty="0"/>
          </a:p>
        </p:txBody>
      </p:sp>
      <p:sp>
        <p:nvSpPr>
          <p:cNvPr id="237" name="Shape 237"/>
          <p:cNvSpPr/>
          <p:nvPr/>
        </p:nvSpPr>
        <p:spPr>
          <a:xfrm>
            <a:off x="4686300" y="1417320"/>
            <a:ext cx="1863090" cy="146240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8" name="Text 238"/>
          <p:cNvSpPr/>
          <p:nvPr/>
        </p:nvSpPr>
        <p:spPr>
          <a:xfrm>
            <a:off x="4914900" y="1645920"/>
            <a:ext cx="1405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150" dirty="0"/>
          </a:p>
        </p:txBody>
      </p:sp>
      <p:sp>
        <p:nvSpPr>
          <p:cNvPr id="239" name="Text 239"/>
          <p:cNvSpPr/>
          <p:nvPr/>
        </p:nvSpPr>
        <p:spPr>
          <a:xfrm>
            <a:off x="4914900" y="1965960"/>
            <a:ext cx="1405890" cy="685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&amp; assertions</a:t>
            </a:r>
            <a:endParaRPr lang="en-US" sz="950" dirty="0"/>
          </a:p>
        </p:txBody>
      </p:sp>
      <p:sp>
        <p:nvSpPr>
          <p:cNvPr id="240" name="Shape 240"/>
          <p:cNvSpPr/>
          <p:nvPr/>
        </p:nvSpPr>
        <p:spPr>
          <a:xfrm>
            <a:off x="6777990" y="1417320"/>
            <a:ext cx="1863090" cy="146240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1" name="Text 241"/>
          <p:cNvSpPr/>
          <p:nvPr/>
        </p:nvSpPr>
        <p:spPr>
          <a:xfrm>
            <a:off x="7006590" y="1645920"/>
            <a:ext cx="1405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(Gherkin)</a:t>
            </a:r>
            <a:endParaRPr lang="en-US" sz="1150" dirty="0"/>
          </a:p>
        </p:txBody>
      </p:sp>
      <p:sp>
        <p:nvSpPr>
          <p:cNvPr id="242" name="Text 242"/>
          <p:cNvSpPr/>
          <p:nvPr/>
        </p:nvSpPr>
        <p:spPr>
          <a:xfrm>
            <a:off x="7006590" y="1965960"/>
            <a:ext cx="1405890" cy="685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- Checkout module</a:t>
            </a:r>
            <a:endParaRPr lang="en-US" sz="950" dirty="0"/>
          </a:p>
        </p:txBody>
      </p:sp>
      <p:sp>
        <p:nvSpPr>
          <p:cNvPr id="243" name="Shape 243"/>
          <p:cNvSpPr/>
          <p:nvPr/>
        </p:nvSpPr>
        <p:spPr>
          <a:xfrm>
            <a:off x="502920" y="3108325"/>
            <a:ext cx="3954780" cy="183324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4" name="Image 244" descr="icon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36925"/>
            <a:ext cx="411480" cy="411480"/>
          </a:xfrm>
          <a:prstGeom prst="rect">
            <a:avLst/>
          </a:prstGeom>
        </p:spPr>
      </p:pic>
      <p:sp>
        <p:nvSpPr>
          <p:cNvPr id="245" name="Text 245"/>
          <p:cNvSpPr/>
          <p:nvPr/>
        </p:nvSpPr>
        <p:spPr>
          <a:xfrm>
            <a:off x="731520" y="3839845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1400" dirty="0"/>
          </a:p>
        </p:txBody>
      </p:sp>
      <p:sp>
        <p:nvSpPr>
          <p:cNvPr id="246" name="Text 246"/>
          <p:cNvSpPr/>
          <p:nvPr/>
        </p:nvSpPr>
        <p:spPr>
          <a:xfrm>
            <a:off x="731520" y="4159885"/>
            <a:ext cx="3497580" cy="55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ecommerce-playground.lambdatest.io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149.0.2 (Windows 10 Pro)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1.89.137 (Windows 11)</a:t>
            </a:r>
            <a:endParaRPr lang="en-US" sz="1100" dirty="0"/>
          </a:p>
        </p:txBody>
      </p:sp>
      <p:sp>
        <p:nvSpPr>
          <p:cNvPr id="247" name="Shape 247"/>
          <p:cNvSpPr/>
          <p:nvPr/>
        </p:nvSpPr>
        <p:spPr>
          <a:xfrm>
            <a:off x="4686300" y="3108325"/>
            <a:ext cx="3954780" cy="183324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8" name="Image 248" descr="icon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3336925"/>
            <a:ext cx="411480" cy="411480"/>
          </a:xfrm>
          <a:prstGeom prst="rect">
            <a:avLst/>
          </a:prstGeom>
        </p:spPr>
      </p:pic>
      <p:sp>
        <p:nvSpPr>
          <p:cNvPr id="249" name="Text 249"/>
          <p:cNvSpPr/>
          <p:nvPr/>
        </p:nvSpPr>
        <p:spPr>
          <a:xfrm>
            <a:off x="4914900" y="3839845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400" dirty="0"/>
          </a:p>
        </p:txBody>
      </p:sp>
      <p:sp>
        <p:nvSpPr>
          <p:cNvPr id="250" name="Text 250"/>
          <p:cNvSpPr/>
          <p:nvPr/>
        </p:nvSpPr>
        <p:spPr>
          <a:xfrm>
            <a:off x="4914900" y="4159885"/>
            <a:ext cx="3497580" cy="55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standard &amp; guest checkout accounts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in-stock / out-of-stock / pre-order SKUs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&amp; invalid input sets for form validation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251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Execution Workflow</a:t>
            </a:r>
            <a:endParaRPr lang="en-US" sz="3200" dirty="0"/>
          </a:p>
        </p:txBody>
      </p:sp>
      <p:sp>
        <p:nvSpPr>
          <p:cNvPr id="252" name="Text 252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test case to consolidated closure report</a:t>
            </a:r>
            <a:endParaRPr lang="en-US" sz="1300" dirty="0"/>
          </a:p>
        </p:txBody>
      </p:sp>
      <p:sp>
        <p:nvSpPr>
          <p:cNvPr id="253" name="Shape 253"/>
          <p:cNvSpPr/>
          <p:nvPr/>
        </p:nvSpPr>
        <p:spPr>
          <a:xfrm>
            <a:off x="502920" y="1417320"/>
            <a:ext cx="1481328" cy="182880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4" name="Text 254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D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55" name="Text 255"/>
          <p:cNvSpPr/>
          <p:nvPr/>
        </p:nvSpPr>
        <p:spPr>
          <a:xfrm>
            <a:off x="640080" y="20574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latest test cases</a:t>
            </a:r>
            <a:endParaRPr lang="en-US" sz="1000" dirty="0"/>
          </a:p>
        </p:txBody>
      </p:sp>
      <p:sp>
        <p:nvSpPr>
          <p:cNvPr id="256" name="Shape 256"/>
          <p:cNvSpPr/>
          <p:nvPr/>
        </p:nvSpPr>
        <p:spPr>
          <a:xfrm>
            <a:off x="2075687" y="1920240"/>
            <a:ext cx="82296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7"/>
          <p:cNvSpPr/>
          <p:nvPr/>
        </p:nvSpPr>
        <p:spPr>
          <a:xfrm>
            <a:off x="2167128" y="1417320"/>
            <a:ext cx="1481328" cy="182880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8" name="Text 258"/>
          <p:cNvSpPr/>
          <p:nvPr/>
        </p:nvSpPr>
        <p:spPr>
          <a:xfrm>
            <a:off x="2304288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D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59" name="Text 259"/>
          <p:cNvSpPr/>
          <p:nvPr/>
        </p:nvSpPr>
        <p:spPr>
          <a:xfrm>
            <a:off x="2304288" y="20574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manual suite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(scripted + exploratory)</a:t>
            </a:r>
            <a:endParaRPr lang="en-US" sz="1000" dirty="0"/>
          </a:p>
        </p:txBody>
      </p:sp>
      <p:sp>
        <p:nvSpPr>
          <p:cNvPr id="260" name="Shape 260"/>
          <p:cNvSpPr/>
          <p:nvPr/>
        </p:nvSpPr>
        <p:spPr>
          <a:xfrm>
            <a:off x="3739895" y="1920240"/>
            <a:ext cx="82296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61"/>
          <p:cNvSpPr/>
          <p:nvPr/>
        </p:nvSpPr>
        <p:spPr>
          <a:xfrm>
            <a:off x="3831336" y="1417320"/>
            <a:ext cx="1481328" cy="182880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2" name="Text 262"/>
          <p:cNvSpPr/>
          <p:nvPr/>
        </p:nvSpPr>
        <p:spPr>
          <a:xfrm>
            <a:off x="396849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D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3" name="Text 263"/>
          <p:cNvSpPr/>
          <p:nvPr/>
        </p:nvSpPr>
        <p:spPr>
          <a:xfrm>
            <a:off x="3968496" y="20574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defects to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Bug Report</a:t>
            </a:r>
            <a:endParaRPr lang="en-US" sz="1000" dirty="0"/>
          </a:p>
        </p:txBody>
      </p:sp>
      <p:sp>
        <p:nvSpPr>
          <p:cNvPr id="264" name="Shape 264"/>
          <p:cNvSpPr/>
          <p:nvPr/>
        </p:nvSpPr>
        <p:spPr>
          <a:xfrm>
            <a:off x="5404103" y="1920240"/>
            <a:ext cx="82296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5"/>
          <p:cNvSpPr/>
          <p:nvPr/>
        </p:nvSpPr>
        <p:spPr>
          <a:xfrm>
            <a:off x="5495544" y="1417320"/>
            <a:ext cx="1481328" cy="182880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6" name="Text 266"/>
          <p:cNvSpPr/>
          <p:nvPr/>
        </p:nvSpPr>
        <p:spPr>
          <a:xfrm>
            <a:off x="5632704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D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7" name="Text 267"/>
          <p:cNvSpPr/>
          <p:nvPr/>
        </p:nvSpPr>
        <p:spPr>
          <a:xfrm>
            <a:off x="5632704" y="20574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automation suite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module (TestNG)</a:t>
            </a:r>
            <a:endParaRPr lang="en-US" sz="1000" dirty="0"/>
          </a:p>
        </p:txBody>
      </p:sp>
      <p:sp>
        <p:nvSpPr>
          <p:cNvPr id="268" name="Shape 268"/>
          <p:cNvSpPr/>
          <p:nvPr/>
        </p:nvSpPr>
        <p:spPr>
          <a:xfrm>
            <a:off x="7068311" y="1920240"/>
            <a:ext cx="82296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9"/>
          <p:cNvSpPr/>
          <p:nvPr/>
        </p:nvSpPr>
        <p:spPr>
          <a:xfrm>
            <a:off x="7159752" y="1417320"/>
            <a:ext cx="1481328" cy="182880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0" name="Text 270"/>
          <p:cNvSpPr/>
          <p:nvPr/>
        </p:nvSpPr>
        <p:spPr>
          <a:xfrm>
            <a:off x="7296912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D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1" name="Text 271"/>
          <p:cNvSpPr/>
          <p:nvPr/>
        </p:nvSpPr>
        <p:spPr>
          <a:xfrm>
            <a:off x="7296912" y="20574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results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Closure Report</a:t>
            </a:r>
            <a:endParaRPr lang="en-US" sz="1000" dirty="0"/>
          </a:p>
        </p:txBody>
      </p:sp>
      <p:sp>
        <p:nvSpPr>
          <p:cNvPr id="272" name="Shape 272"/>
          <p:cNvSpPr/>
          <p:nvPr/>
        </p:nvSpPr>
        <p:spPr>
          <a:xfrm>
            <a:off x="502920" y="3520440"/>
            <a:ext cx="8138160" cy="142113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3" name="Text 273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Cadence</a:t>
            </a:r>
            <a:endParaRPr lang="en-US" sz="1400" dirty="0"/>
          </a:p>
        </p:txBody>
      </p:sp>
      <p:sp>
        <p:nvSpPr>
          <p:cNvPr id="274" name="Text 274"/>
          <p:cNvSpPr/>
          <p:nvPr/>
        </p:nvSpPr>
        <p:spPr>
          <a:xfrm>
            <a:off x="731520" y="4069080"/>
            <a:ext cx="7680960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4 module owners runs their automated suite locally against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demo environment; manual execution and defect logging happen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parallel, with results merged ahead of each closure review.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275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 Manual Test Cases</a:t>
            </a:r>
            <a:endParaRPr lang="en-US" sz="3200" dirty="0"/>
          </a:p>
        </p:txBody>
      </p:sp>
      <p:sp>
        <p:nvSpPr>
          <p:cNvPr id="276" name="Text 276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from the 145-case manual regression suite</a:t>
            </a:r>
            <a:endParaRPr lang="en-US" sz="1300" dirty="0"/>
          </a:p>
        </p:txBody>
      </p:sp>
      <p:sp>
        <p:nvSpPr>
          <p:cNvPr id="277" name="Text 277"/>
          <p:cNvSpPr/>
          <p:nvPr/>
        </p:nvSpPr>
        <p:spPr>
          <a:xfrm>
            <a:off x="50292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ID</a:t>
            </a:r>
            <a:endParaRPr lang="en-US" sz="1050" dirty="0"/>
          </a:p>
        </p:txBody>
      </p:sp>
      <p:sp>
        <p:nvSpPr>
          <p:cNvPr id="278" name="Text 278"/>
          <p:cNvSpPr/>
          <p:nvPr/>
        </p:nvSpPr>
        <p:spPr>
          <a:xfrm>
            <a:off x="278892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50" dirty="0"/>
          </a:p>
        </p:txBody>
      </p:sp>
      <p:sp>
        <p:nvSpPr>
          <p:cNvPr id="279" name="Text 279"/>
          <p:cNvSpPr/>
          <p:nvPr/>
        </p:nvSpPr>
        <p:spPr>
          <a:xfrm>
            <a:off x="754380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280" name="Shape 280"/>
          <p:cNvSpPr/>
          <p:nvPr/>
        </p:nvSpPr>
        <p:spPr>
          <a:xfrm>
            <a:off x="502920" y="1920240"/>
            <a:ext cx="8138160" cy="64008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1" name="Text 281"/>
          <p:cNvSpPr/>
          <p:nvPr/>
        </p:nvSpPr>
        <p:spPr>
          <a:xfrm>
            <a:off x="68580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TC_LOGOUT_001</a:t>
            </a:r>
            <a:endParaRPr lang="en-US" sz="1050" dirty="0"/>
          </a:p>
        </p:txBody>
      </p:sp>
      <p:sp>
        <p:nvSpPr>
          <p:cNvPr id="282" name="Text 282"/>
          <p:cNvSpPr/>
          <p:nvPr/>
        </p:nvSpPr>
        <p:spPr>
          <a:xfrm>
            <a:off x="278892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Logged-out user stays on login page after browser back</a:t>
            </a:r>
            <a:endParaRPr lang="en-US" sz="1000" dirty="0"/>
          </a:p>
        </p:txBody>
      </p:sp>
      <p:sp>
        <p:nvSpPr>
          <p:cNvPr id="283" name="Text 283"/>
          <p:cNvSpPr/>
          <p:nvPr/>
        </p:nvSpPr>
        <p:spPr>
          <a:xfrm>
            <a:off x="754380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50" dirty="0"/>
          </a:p>
        </p:txBody>
      </p:sp>
      <p:sp>
        <p:nvSpPr>
          <p:cNvPr id="284" name="Shape 284"/>
          <p:cNvSpPr/>
          <p:nvPr/>
        </p:nvSpPr>
        <p:spPr>
          <a:xfrm>
            <a:off x="502920" y="2697480"/>
            <a:ext cx="8138160" cy="64008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5" name="Text 285"/>
          <p:cNvSpPr/>
          <p:nvPr/>
        </p:nvSpPr>
        <p:spPr>
          <a:xfrm>
            <a:off x="68580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TC_CHECKOUT_003</a:t>
            </a:r>
            <a:endParaRPr lang="en-US" sz="1050" dirty="0"/>
          </a:p>
        </p:txBody>
      </p:sp>
      <p:sp>
        <p:nvSpPr>
          <p:cNvPr id="286" name="Text 286"/>
          <p:cNvSpPr/>
          <p:nvPr/>
        </p:nvSpPr>
        <p:spPr>
          <a:xfrm>
            <a:off x="278892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billing fields are validated before continue</a:t>
            </a:r>
            <a:endParaRPr lang="en-US" sz="1000" dirty="0"/>
          </a:p>
        </p:txBody>
      </p:sp>
      <p:sp>
        <p:nvSpPr>
          <p:cNvPr id="287" name="Text 287"/>
          <p:cNvSpPr/>
          <p:nvPr/>
        </p:nvSpPr>
        <p:spPr>
          <a:xfrm>
            <a:off x="754380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88" name="Shape 288"/>
          <p:cNvSpPr/>
          <p:nvPr/>
        </p:nvSpPr>
        <p:spPr>
          <a:xfrm>
            <a:off x="502920" y="3474720"/>
            <a:ext cx="8138160" cy="64008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9" name="Text 289"/>
          <p:cNvSpPr/>
          <p:nvPr/>
        </p:nvSpPr>
        <p:spPr>
          <a:xfrm>
            <a:off x="68580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TC_CART_006</a:t>
            </a:r>
            <a:endParaRPr lang="en-US" sz="1050" dirty="0"/>
          </a:p>
        </p:txBody>
      </p:sp>
      <p:sp>
        <p:nvSpPr>
          <p:cNvPr id="290" name="Text 290"/>
          <p:cNvSpPr/>
          <p:nvPr/>
        </p:nvSpPr>
        <p:spPr>
          <a:xfrm>
            <a:off x="2788920" y="3474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badge count updates after adding a second product</a:t>
            </a:r>
            <a:endParaRPr lang="en-US" sz="1000" dirty="0"/>
          </a:p>
        </p:txBody>
      </p:sp>
      <p:sp>
        <p:nvSpPr>
          <p:cNvPr id="291" name="Text 291"/>
          <p:cNvSpPr/>
          <p:nvPr/>
        </p:nvSpPr>
        <p:spPr>
          <a:xfrm>
            <a:off x="7543800" y="3474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92" name="Shape 292"/>
          <p:cNvSpPr/>
          <p:nvPr/>
        </p:nvSpPr>
        <p:spPr>
          <a:xfrm>
            <a:off x="502920" y="4251960"/>
            <a:ext cx="8138160" cy="64008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3" name="Text 293"/>
          <p:cNvSpPr/>
          <p:nvPr/>
        </p:nvSpPr>
        <p:spPr>
          <a:xfrm>
            <a:off x="685800" y="4251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TC_PDP_006</a:t>
            </a:r>
            <a:endParaRPr lang="en-US" sz="1050" dirty="0"/>
          </a:p>
        </p:txBody>
      </p:sp>
      <p:sp>
        <p:nvSpPr>
          <p:cNvPr id="294" name="Text 294"/>
          <p:cNvSpPr/>
          <p:nvPr/>
        </p:nvSpPr>
        <p:spPr>
          <a:xfrm>
            <a:off x="2788920" y="4251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button responds to user interaction</a:t>
            </a:r>
            <a:endParaRPr lang="en-US" sz="1000" dirty="0"/>
          </a:p>
        </p:txBody>
      </p:sp>
      <p:sp>
        <p:nvSpPr>
          <p:cNvPr id="295" name="Text 295"/>
          <p:cNvSpPr/>
          <p:nvPr/>
        </p:nvSpPr>
        <p:spPr>
          <a:xfrm>
            <a:off x="754380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50" dirty="0"/>
          </a:p>
        </p:txBody>
      </p:sp>
      <p:sp>
        <p:nvSpPr>
          <p:cNvPr id="296" name="Text 296"/>
          <p:cNvSpPr/>
          <p:nvPr/>
        </p:nvSpPr>
        <p:spPr>
          <a:xfrm>
            <a:off x="502920" y="5074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suite: 145 manual test cases across Search, Cart, Checkout and Auth - see Coverage by Module.</a:t>
            </a:r>
            <a:endParaRPr lang="en-U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297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 Automated Test Cases</a:t>
            </a:r>
            <a:endParaRPr lang="en-US" sz="3200" dirty="0"/>
          </a:p>
        </p:txBody>
      </p:sp>
      <p:sp>
        <p:nvSpPr>
          <p:cNvPr id="298" name="Text 298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assertions from the Selenium/TestNG automation suite</a:t>
            </a:r>
            <a:endParaRPr lang="en-US" sz="1300" dirty="0"/>
          </a:p>
        </p:txBody>
      </p:sp>
      <p:sp>
        <p:nvSpPr>
          <p:cNvPr id="299" name="Text 299"/>
          <p:cNvSpPr/>
          <p:nvPr/>
        </p:nvSpPr>
        <p:spPr>
          <a:xfrm>
            <a:off x="50292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</a:t>
            </a:r>
            <a:endParaRPr lang="en-US" sz="1050" dirty="0"/>
          </a:p>
        </p:txBody>
      </p:sp>
      <p:sp>
        <p:nvSpPr>
          <p:cNvPr id="300" name="Text 300"/>
          <p:cNvSpPr/>
          <p:nvPr/>
        </p:nvSpPr>
        <p:spPr>
          <a:xfrm>
            <a:off x="310896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301" name="Text 301"/>
          <p:cNvSpPr/>
          <p:nvPr/>
        </p:nvSpPr>
        <p:spPr>
          <a:xfrm>
            <a:off x="640080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1050" dirty="0"/>
          </a:p>
        </p:txBody>
      </p:sp>
      <p:sp>
        <p:nvSpPr>
          <p:cNvPr id="302" name="Shape 302"/>
          <p:cNvSpPr/>
          <p:nvPr/>
        </p:nvSpPr>
        <p:spPr>
          <a:xfrm>
            <a:off x="502920" y="1920240"/>
            <a:ext cx="8138160" cy="64008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3" name="Text 303"/>
          <p:cNvSpPr/>
          <p:nvPr/>
        </p:nvSpPr>
        <p:spPr>
          <a:xfrm>
            <a:off x="685800" y="1920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ProductBrowsingTests</a:t>
            </a:r>
            <a:endParaRPr lang="en-US" sz="1000" dirty="0"/>
          </a:p>
        </p:txBody>
      </p:sp>
      <p:sp>
        <p:nvSpPr>
          <p:cNvPr id="304" name="Text 304"/>
          <p:cNvSpPr/>
          <p:nvPr/>
        </p:nvSpPr>
        <p:spPr>
          <a:xfrm>
            <a:off x="3108960" y="1920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BD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verifyProductPriceIsDisplayed()</a:t>
            </a:r>
            <a:endParaRPr lang="en-US" sz="950" dirty="0"/>
          </a:p>
        </p:txBody>
      </p:sp>
      <p:sp>
        <p:nvSpPr>
          <p:cNvPr id="305" name="Text 305"/>
          <p:cNvSpPr/>
          <p:nvPr/>
        </p:nvSpPr>
        <p:spPr>
          <a:xfrm>
            <a:off x="6400800" y="1920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price is shown &amp; starts with "$"</a:t>
            </a:r>
            <a:endParaRPr lang="en-US" sz="950" dirty="0"/>
          </a:p>
        </p:txBody>
      </p:sp>
      <p:sp>
        <p:nvSpPr>
          <p:cNvPr id="306" name="Shape 306"/>
          <p:cNvSpPr/>
          <p:nvPr/>
        </p:nvSpPr>
        <p:spPr>
          <a:xfrm>
            <a:off x="502920" y="2697480"/>
            <a:ext cx="8138160" cy="64008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7" name="Text 307"/>
          <p:cNvSpPr/>
          <p:nvPr/>
        </p:nvSpPr>
        <p:spPr>
          <a:xfrm>
            <a:off x="685800" y="2697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ShoppingCartTest</a:t>
            </a:r>
            <a:endParaRPr lang="en-US" sz="1000" dirty="0"/>
          </a:p>
        </p:txBody>
      </p:sp>
      <p:sp>
        <p:nvSpPr>
          <p:cNvPr id="308" name="Text 308"/>
          <p:cNvSpPr/>
          <p:nvPr/>
        </p:nvSpPr>
        <p:spPr>
          <a:xfrm>
            <a:off x="3108960" y="2697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BD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validMultipleAddProduct()</a:t>
            </a:r>
            <a:endParaRPr lang="en-US" sz="950" dirty="0"/>
          </a:p>
        </p:txBody>
      </p:sp>
      <p:sp>
        <p:nvSpPr>
          <p:cNvPr id="309" name="Text 309"/>
          <p:cNvSpPr/>
          <p:nvPr/>
        </p:nvSpPr>
        <p:spPr>
          <a:xfrm>
            <a:off x="6400800" y="26974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2 products, asserts cart badge shows "2"</a:t>
            </a:r>
            <a:endParaRPr lang="en-US" sz="950" dirty="0"/>
          </a:p>
        </p:txBody>
      </p:sp>
      <p:sp>
        <p:nvSpPr>
          <p:cNvPr id="310" name="Shape 310"/>
          <p:cNvSpPr/>
          <p:nvPr/>
        </p:nvSpPr>
        <p:spPr>
          <a:xfrm>
            <a:off x="502920" y="3474720"/>
            <a:ext cx="8138160" cy="64008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1" name="Text 311"/>
          <p:cNvSpPr/>
          <p:nvPr/>
        </p:nvSpPr>
        <p:spPr>
          <a:xfrm>
            <a:off x="685800" y="3474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312" name="Text 312"/>
          <p:cNvSpPr/>
          <p:nvPr/>
        </p:nvSpPr>
        <p:spPr>
          <a:xfrm>
            <a:off x="310896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BD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invalidPassword()</a:t>
            </a:r>
            <a:endParaRPr lang="en-US" sz="950" dirty="0"/>
          </a:p>
        </p:txBody>
      </p:sp>
      <p:sp>
        <p:nvSpPr>
          <p:cNvPr id="313" name="Text 313"/>
          <p:cNvSpPr/>
          <p:nvPr/>
        </p:nvSpPr>
        <p:spPr>
          <a:xfrm>
            <a:off x="6400800" y="3474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warning message on wrong-password login</a:t>
            </a:r>
            <a:endParaRPr lang="en-US" sz="950" dirty="0"/>
          </a:p>
        </p:txBody>
      </p:sp>
      <p:sp>
        <p:nvSpPr>
          <p:cNvPr id="314" name="Shape 314"/>
          <p:cNvSpPr/>
          <p:nvPr/>
        </p:nvSpPr>
        <p:spPr>
          <a:xfrm>
            <a:off x="502920" y="4251960"/>
            <a:ext cx="8138160" cy="64008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5" name="Text 315"/>
          <p:cNvSpPr/>
          <p:nvPr/>
        </p:nvSpPr>
        <p:spPr>
          <a:xfrm>
            <a:off x="685800" y="4251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CheckoutPage (Cucumber)</a:t>
            </a:r>
            <a:endParaRPr lang="en-US" sz="1000" dirty="0"/>
          </a:p>
        </p:txBody>
      </p:sp>
      <p:sp>
        <p:nvSpPr>
          <p:cNvPr id="316" name="Text 316"/>
          <p:cNvSpPr/>
          <p:nvPr/>
        </p:nvSpPr>
        <p:spPr>
          <a:xfrm>
            <a:off x="3108960" y="4251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BD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i_fill_in_the_billing_details(...)</a:t>
            </a:r>
            <a:endParaRPr lang="en-US" sz="950" dirty="0"/>
          </a:p>
        </p:txBody>
      </p:sp>
      <p:sp>
        <p:nvSpPr>
          <p:cNvPr id="317" name="Text 317"/>
          <p:cNvSpPr/>
          <p:nvPr/>
        </p:nvSpPr>
        <p:spPr>
          <a:xfrm>
            <a:off x="6400800" y="42519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step filling &amp; validating billing form</a:t>
            </a:r>
            <a:endParaRPr lang="en-US" sz="950" dirty="0"/>
          </a:p>
        </p:txBody>
      </p:sp>
      <p:sp>
        <p:nvSpPr>
          <p:cNvPr id="318" name="Text 318"/>
          <p:cNvSpPr/>
          <p:nvPr/>
        </p:nvSpPr>
        <p:spPr>
          <a:xfrm>
            <a:off x="502920" y="5074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TestNG assertions per module; Checkout additionally exposes steps as Cucumber Gherkin bindings.</a:t>
            </a:r>
            <a:endParaRPr lang="en-U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 319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Management Process &amp; Lifecycle</a:t>
            </a:r>
            <a:endParaRPr lang="en-US" sz="3200" dirty="0"/>
          </a:p>
        </p:txBody>
      </p:sp>
      <p:sp>
        <p:nvSpPr>
          <p:cNvPr id="320" name="Text 320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60 logged defects are tracked from discovery to closure</a:t>
            </a:r>
            <a:endParaRPr lang="en-US" sz="1300" dirty="0"/>
          </a:p>
        </p:txBody>
      </p:sp>
      <p:sp>
        <p:nvSpPr>
          <p:cNvPr id="321" name="Shape 321"/>
          <p:cNvSpPr/>
          <p:nvPr/>
        </p:nvSpPr>
        <p:spPr>
          <a:xfrm>
            <a:off x="502920" y="1417320"/>
            <a:ext cx="1242060" cy="960120"/>
          </a:xfrm>
          <a:prstGeom prst="roundRect">
            <a:avLst>
              <a:gd name="adj" fmla="val 600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2" name="Text 322"/>
          <p:cNvSpPr/>
          <p:nvPr/>
        </p:nvSpPr>
        <p:spPr>
          <a:xfrm>
            <a:off x="502920" y="1417320"/>
            <a:ext cx="12420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323" name="Shape 323"/>
          <p:cNvSpPr/>
          <p:nvPr/>
        </p:nvSpPr>
        <p:spPr>
          <a:xfrm>
            <a:off x="1813559" y="1760220"/>
            <a:ext cx="27432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4"/>
          <p:cNvSpPr/>
          <p:nvPr/>
        </p:nvSpPr>
        <p:spPr>
          <a:xfrm>
            <a:off x="1882140" y="1417320"/>
            <a:ext cx="1242060" cy="960120"/>
          </a:xfrm>
          <a:prstGeom prst="roundRect">
            <a:avLst>
              <a:gd name="adj" fmla="val 600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5" name="Text 325"/>
          <p:cNvSpPr/>
          <p:nvPr/>
        </p:nvSpPr>
        <p:spPr>
          <a:xfrm>
            <a:off x="1882140" y="1417320"/>
            <a:ext cx="12420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000" dirty="0"/>
          </a:p>
        </p:txBody>
      </p:sp>
      <p:sp>
        <p:nvSpPr>
          <p:cNvPr id="326" name="Shape 326"/>
          <p:cNvSpPr/>
          <p:nvPr/>
        </p:nvSpPr>
        <p:spPr>
          <a:xfrm>
            <a:off x="3192779" y="1760220"/>
            <a:ext cx="27432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7"/>
          <p:cNvSpPr/>
          <p:nvPr/>
        </p:nvSpPr>
        <p:spPr>
          <a:xfrm>
            <a:off x="3261360" y="1417320"/>
            <a:ext cx="1242060" cy="960120"/>
          </a:xfrm>
          <a:prstGeom prst="roundRect">
            <a:avLst>
              <a:gd name="adj" fmla="val 600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8" name="Text 328"/>
          <p:cNvSpPr/>
          <p:nvPr/>
        </p:nvSpPr>
        <p:spPr>
          <a:xfrm>
            <a:off x="3261360" y="1417320"/>
            <a:ext cx="12420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29" name="Shape 329"/>
          <p:cNvSpPr/>
          <p:nvPr/>
        </p:nvSpPr>
        <p:spPr>
          <a:xfrm>
            <a:off x="4571999" y="1760220"/>
            <a:ext cx="27432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30"/>
          <p:cNvSpPr/>
          <p:nvPr/>
        </p:nvSpPr>
        <p:spPr>
          <a:xfrm>
            <a:off x="4640580" y="1417320"/>
            <a:ext cx="1242060" cy="960120"/>
          </a:xfrm>
          <a:prstGeom prst="roundRect">
            <a:avLst>
              <a:gd name="adj" fmla="val 600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1" name="Text 331"/>
          <p:cNvSpPr/>
          <p:nvPr/>
        </p:nvSpPr>
        <p:spPr>
          <a:xfrm>
            <a:off x="4640580" y="1417320"/>
            <a:ext cx="12420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332" name="Shape 332"/>
          <p:cNvSpPr/>
          <p:nvPr/>
        </p:nvSpPr>
        <p:spPr>
          <a:xfrm>
            <a:off x="5951219" y="1760220"/>
            <a:ext cx="27432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3"/>
          <p:cNvSpPr/>
          <p:nvPr/>
        </p:nvSpPr>
        <p:spPr>
          <a:xfrm>
            <a:off x="6019800" y="1417320"/>
            <a:ext cx="1242060" cy="960120"/>
          </a:xfrm>
          <a:prstGeom prst="roundRect">
            <a:avLst>
              <a:gd name="adj" fmla="val 600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4" name="Text 334"/>
          <p:cNvSpPr/>
          <p:nvPr/>
        </p:nvSpPr>
        <p:spPr>
          <a:xfrm>
            <a:off x="6019800" y="1417320"/>
            <a:ext cx="12420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</a:t>
            </a:r>
            <a:endParaRPr lang="en-US" sz="1000" dirty="0"/>
          </a:p>
        </p:txBody>
      </p:sp>
      <p:sp>
        <p:nvSpPr>
          <p:cNvPr id="335" name="Shape 335"/>
          <p:cNvSpPr/>
          <p:nvPr/>
        </p:nvSpPr>
        <p:spPr>
          <a:xfrm>
            <a:off x="7330439" y="1760220"/>
            <a:ext cx="27432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6"/>
          <p:cNvSpPr/>
          <p:nvPr/>
        </p:nvSpPr>
        <p:spPr>
          <a:xfrm>
            <a:off x="7399020" y="1417320"/>
            <a:ext cx="1242060" cy="960120"/>
          </a:xfrm>
          <a:prstGeom prst="roundRect">
            <a:avLst>
              <a:gd name="adj" fmla="val 600"/>
            </a:avLst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7" name="Text 337"/>
          <p:cNvSpPr/>
          <p:nvPr/>
        </p:nvSpPr>
        <p:spPr>
          <a:xfrm>
            <a:off x="7399020" y="1417320"/>
            <a:ext cx="12420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338" name="Shape 338"/>
          <p:cNvSpPr/>
          <p:nvPr/>
        </p:nvSpPr>
        <p:spPr>
          <a:xfrm>
            <a:off x="502920" y="2651760"/>
            <a:ext cx="3954780" cy="228981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9" name="Text 339"/>
          <p:cNvSpPr/>
          <p:nvPr/>
        </p:nvSpPr>
        <p:spPr>
          <a:xfrm>
            <a:off x="731520" y="288036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Standard</a:t>
            </a:r>
            <a:endParaRPr lang="en-US" sz="1400" dirty="0"/>
          </a:p>
        </p:txBody>
      </p:sp>
      <p:sp>
        <p:nvSpPr>
          <p:cNvPr id="340" name="Text 340"/>
          <p:cNvSpPr/>
          <p:nvPr/>
        </p:nvSpPr>
        <p:spPr>
          <a:xfrm>
            <a:off x="731520" y="3200400"/>
            <a:ext cx="3497580" cy="151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defect records: Title, Description, Steps to Reproduce,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Actual Result, Severity, Priority, Reporter/date,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supporting evidence (screenshots/video).</a:t>
            </a:r>
            <a:endParaRPr lang="en-US" sz="1100" dirty="0"/>
          </a:p>
        </p:txBody>
      </p:sp>
      <p:sp>
        <p:nvSpPr>
          <p:cNvPr id="341" name="Shape 341"/>
          <p:cNvSpPr/>
          <p:nvPr/>
        </p:nvSpPr>
        <p:spPr>
          <a:xfrm>
            <a:off x="4686300" y="2651760"/>
            <a:ext cx="3954780" cy="228981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2" name="Text 342"/>
          <p:cNvSpPr/>
          <p:nvPr/>
        </p:nvSpPr>
        <p:spPr>
          <a:xfrm>
            <a:off x="4914900" y="288036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vs. Priority</a:t>
            </a:r>
            <a:endParaRPr lang="en-US" sz="1400" dirty="0"/>
          </a:p>
        </p:txBody>
      </p:sp>
      <p:sp>
        <p:nvSpPr>
          <p:cNvPr id="343" name="Text 343"/>
          <p:cNvSpPr/>
          <p:nvPr/>
        </p:nvSpPr>
        <p:spPr>
          <a:xfrm>
            <a:off x="4914900" y="3200400"/>
            <a:ext cx="3497580" cy="151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impact on the application (Critical/Major/Minor)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= urgency to fix (Critical/High/Medium/Low)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Critical-severity defects are also High/Critical priority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 344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&amp; Exit Criteria</a:t>
            </a:r>
            <a:endParaRPr lang="en-US" sz="3200" dirty="0"/>
          </a:p>
        </p:txBody>
      </p:sp>
      <p:sp>
        <p:nvSpPr>
          <p:cNvPr id="345" name="Text 34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to start testing, and to call it done</a:t>
            </a:r>
            <a:endParaRPr lang="en-US" sz="1300" dirty="0"/>
          </a:p>
        </p:txBody>
      </p:sp>
      <p:sp>
        <p:nvSpPr>
          <p:cNvPr id="346" name="Shape 346"/>
          <p:cNvSpPr/>
          <p:nvPr/>
        </p:nvSpPr>
        <p:spPr>
          <a:xfrm>
            <a:off x="50292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7" name="Image 347" descr="icon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348" name="Text 348"/>
          <p:cNvSpPr/>
          <p:nvPr/>
        </p:nvSpPr>
        <p:spPr>
          <a:xfrm>
            <a:off x="731520" y="214884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Criteria</a:t>
            </a:r>
            <a:endParaRPr lang="en-US" sz="1400" dirty="0"/>
          </a:p>
        </p:txBody>
      </p:sp>
      <p:sp>
        <p:nvSpPr>
          <p:cNvPr id="349" name="Text 349"/>
          <p:cNvSpPr/>
          <p:nvPr/>
        </p:nvSpPr>
        <p:spPr>
          <a:xfrm>
            <a:off x="731520" y="2468880"/>
            <a:ext cx="3497580" cy="224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reviewed &amp; approved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 (Firefox/Brave) provisioned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 compiles &amp; runs against AUT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&amp; accounts seeded</a:t>
            </a:r>
            <a:endParaRPr lang="en-US" sz="1100" dirty="0"/>
          </a:p>
        </p:txBody>
      </p:sp>
      <p:sp>
        <p:nvSpPr>
          <p:cNvPr id="350" name="Shape 350"/>
          <p:cNvSpPr/>
          <p:nvPr/>
        </p:nvSpPr>
        <p:spPr>
          <a:xfrm>
            <a:off x="468630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1" name="Image 351" descr="icon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645920"/>
            <a:ext cx="411480" cy="411480"/>
          </a:xfrm>
          <a:prstGeom prst="rect">
            <a:avLst/>
          </a:prstGeom>
        </p:spPr>
      </p:pic>
      <p:sp>
        <p:nvSpPr>
          <p:cNvPr id="352" name="Text 352"/>
          <p:cNvSpPr/>
          <p:nvPr/>
        </p:nvSpPr>
        <p:spPr>
          <a:xfrm>
            <a:off x="4914900" y="214884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1400" dirty="0"/>
          </a:p>
        </p:txBody>
      </p:sp>
      <p:sp>
        <p:nvSpPr>
          <p:cNvPr id="353" name="Text 353"/>
          <p:cNvSpPr/>
          <p:nvPr/>
        </p:nvSpPr>
        <p:spPr>
          <a:xfrm>
            <a:off x="4914900" y="2468880"/>
            <a:ext cx="3497580" cy="224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145 planned manual cases executed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logged defects triaged (Severity &amp; Priority set)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open Critical defects at release candidate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regression suite green on each module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 354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</a:t>
            </a:r>
            <a:endParaRPr lang="en-US" sz="3200" dirty="0"/>
          </a:p>
        </p:txBody>
      </p:sp>
      <p:sp>
        <p:nvSpPr>
          <p:cNvPr id="355" name="Text 35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risks to release readiness and the automation framework</a:t>
            </a:r>
            <a:endParaRPr lang="en-US" sz="1300" dirty="0"/>
          </a:p>
        </p:txBody>
      </p:sp>
      <p:sp>
        <p:nvSpPr>
          <p:cNvPr id="356" name="Shape 356"/>
          <p:cNvSpPr/>
          <p:nvPr/>
        </p:nvSpPr>
        <p:spPr>
          <a:xfrm>
            <a:off x="502920" y="1417320"/>
            <a:ext cx="8138160" cy="709612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7" name="Text 357"/>
          <p:cNvSpPr/>
          <p:nvPr/>
        </p:nvSpPr>
        <p:spPr>
          <a:xfrm>
            <a:off x="731520" y="1417320"/>
            <a:ext cx="32004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Critical defects open</a:t>
            </a:r>
            <a:endParaRPr lang="en-US" sz="1150" dirty="0"/>
          </a:p>
        </p:txBody>
      </p:sp>
      <p:sp>
        <p:nvSpPr>
          <p:cNvPr id="358" name="Text 358"/>
          <p:cNvSpPr/>
          <p:nvPr/>
        </p:nvSpPr>
        <p:spPr>
          <a:xfrm>
            <a:off x="4160520" y="1417320"/>
            <a:ext cx="425196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release until fixed &amp; retested; tracked daily</a:t>
            </a:r>
            <a:endParaRPr lang="en-US" sz="1000" dirty="0"/>
          </a:p>
        </p:txBody>
      </p:sp>
      <p:sp>
        <p:nvSpPr>
          <p:cNvPr id="359" name="Shape 359"/>
          <p:cNvSpPr/>
          <p:nvPr/>
        </p:nvSpPr>
        <p:spPr>
          <a:xfrm>
            <a:off x="502920" y="2355532"/>
            <a:ext cx="8138160" cy="709612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0" name="Text 360"/>
          <p:cNvSpPr/>
          <p:nvPr/>
        </p:nvSpPr>
        <p:spPr>
          <a:xfrm>
            <a:off x="731520" y="2355532"/>
            <a:ext cx="32004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Manual-only step definitions</a:t>
            </a:r>
            <a:endParaRPr lang="en-US" sz="1150" dirty="0"/>
          </a:p>
        </p:txBody>
      </p:sp>
      <p:sp>
        <p:nvSpPr>
          <p:cNvPr id="361" name="Text 361"/>
          <p:cNvSpPr/>
          <p:nvPr/>
        </p:nvSpPr>
        <p:spPr>
          <a:xfrm>
            <a:off x="4160520" y="2355532"/>
            <a:ext cx="425196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Cucumber steps not yet wired to a runner; verify before CI</a:t>
            </a:r>
            <a:endParaRPr lang="en-US" sz="1000" dirty="0"/>
          </a:p>
        </p:txBody>
      </p:sp>
      <p:sp>
        <p:nvSpPr>
          <p:cNvPr id="362" name="Shape 362"/>
          <p:cNvSpPr/>
          <p:nvPr/>
        </p:nvSpPr>
        <p:spPr>
          <a:xfrm>
            <a:off x="502920" y="3293744"/>
            <a:ext cx="8138160" cy="709612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3" name="Text 363"/>
          <p:cNvSpPr/>
          <p:nvPr/>
        </p:nvSpPr>
        <p:spPr>
          <a:xfrm>
            <a:off x="731520" y="3293744"/>
            <a:ext cx="32004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build config</a:t>
            </a:r>
            <a:endParaRPr lang="en-US" sz="1150" dirty="0"/>
          </a:p>
        </p:txBody>
      </p:sp>
      <p:sp>
        <p:nvSpPr>
          <p:cNvPr id="364" name="Text 364"/>
          <p:cNvSpPr/>
          <p:nvPr/>
        </p:nvSpPr>
        <p:spPr>
          <a:xfrm>
            <a:off x="4160520" y="3293744"/>
            <a:ext cx="425196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its own project layout; risk of drift</a:t>
            </a:r>
            <a:endParaRPr lang="en-US" sz="1000" dirty="0"/>
          </a:p>
        </p:txBody>
      </p:sp>
      <p:sp>
        <p:nvSpPr>
          <p:cNvPr id="365" name="Shape 365"/>
          <p:cNvSpPr/>
          <p:nvPr/>
        </p:nvSpPr>
        <p:spPr>
          <a:xfrm>
            <a:off x="502920" y="4231956"/>
            <a:ext cx="8138160" cy="709612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6" name="Text 366"/>
          <p:cNvSpPr/>
          <p:nvPr/>
        </p:nvSpPr>
        <p:spPr>
          <a:xfrm>
            <a:off x="731520" y="4231956"/>
            <a:ext cx="320040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test waits</a:t>
            </a:r>
            <a:endParaRPr lang="en-US" sz="1150" dirty="0"/>
          </a:p>
        </p:txBody>
      </p:sp>
      <p:sp>
        <p:nvSpPr>
          <p:cNvPr id="367" name="Text 367"/>
          <p:cNvSpPr/>
          <p:nvPr/>
        </p:nvSpPr>
        <p:spPr>
          <a:xfrm>
            <a:off x="4160520" y="4231956"/>
            <a:ext cx="4251960" cy="70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Thread.sleep() in Cart tests may cause flaky runs</a:t>
            </a:r>
            <a:endParaRPr lang="en-U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 368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Metrics &amp; Reporting</a:t>
            </a:r>
            <a:endParaRPr lang="en-US" sz="3200" dirty="0"/>
          </a:p>
        </p:txBody>
      </p:sp>
      <p:sp>
        <p:nvSpPr>
          <p:cNvPr id="369" name="Text 369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results are measured and communicated</a:t>
            </a:r>
            <a:endParaRPr lang="en-US" sz="1300" dirty="0"/>
          </a:p>
        </p:txBody>
      </p:sp>
      <p:sp>
        <p:nvSpPr>
          <p:cNvPr id="370" name="Shape 370"/>
          <p:cNvSpPr/>
          <p:nvPr/>
        </p:nvSpPr>
        <p:spPr>
          <a:xfrm>
            <a:off x="502920" y="1417320"/>
            <a:ext cx="1863090" cy="146240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1" name="Text 371"/>
          <p:cNvSpPr/>
          <p:nvPr/>
        </p:nvSpPr>
        <p:spPr>
          <a:xfrm>
            <a:off x="502920" y="1645920"/>
            <a:ext cx="1863090" cy="1005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9E1"/>
                </a:solidFill>
                <a:latin typeface="Cambria" pitchFamily="34" charset="0"/>
                <a:ea typeface="Cambria" pitchFamily="34" charset="-122"/>
              </a:rPr>
              <a:t>145</a:t>
            </a:r>
            <a:endParaRPr lang="en-US" sz="2600" dirty="0"/>
          </a:p>
        </p:txBody>
      </p:sp>
      <p:sp>
        <p:nvSpPr>
          <p:cNvPr id="372" name="Text 372"/>
          <p:cNvSpPr/>
          <p:nvPr/>
        </p:nvSpPr>
        <p:spPr>
          <a:xfrm>
            <a:off x="502920" y="0"/>
            <a:ext cx="186309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executions</a:t>
            </a:r>
            <a:endParaRPr lang="en-US" sz="1000" dirty="0"/>
          </a:p>
        </p:txBody>
      </p:sp>
      <p:sp>
        <p:nvSpPr>
          <p:cNvPr id="373" name="Shape 373"/>
          <p:cNvSpPr/>
          <p:nvPr/>
        </p:nvSpPr>
        <p:spPr>
          <a:xfrm>
            <a:off x="2594610" y="1417320"/>
            <a:ext cx="1863090" cy="146240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4" name="Text 374"/>
          <p:cNvSpPr/>
          <p:nvPr/>
        </p:nvSpPr>
        <p:spPr>
          <a:xfrm>
            <a:off x="2594610" y="1645920"/>
            <a:ext cx="186309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D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71.7%</a:t>
            </a:r>
            <a:endParaRPr lang="en-US" sz="2600" dirty="0"/>
          </a:p>
        </p:txBody>
      </p:sp>
      <p:sp>
        <p:nvSpPr>
          <p:cNvPr id="375" name="Text 375"/>
          <p:cNvSpPr/>
          <p:nvPr/>
        </p:nvSpPr>
        <p:spPr>
          <a:xfrm>
            <a:off x="2594610" y="0"/>
            <a:ext cx="186309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pass rate</a:t>
            </a:r>
            <a:endParaRPr lang="en-US" sz="1000" dirty="0"/>
          </a:p>
        </p:txBody>
      </p:sp>
      <p:sp>
        <p:nvSpPr>
          <p:cNvPr id="376" name="Shape 376"/>
          <p:cNvSpPr/>
          <p:nvPr/>
        </p:nvSpPr>
        <p:spPr>
          <a:xfrm>
            <a:off x="4686300" y="1417320"/>
            <a:ext cx="1863090" cy="146240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7" name="Text 377"/>
          <p:cNvSpPr/>
          <p:nvPr/>
        </p:nvSpPr>
        <p:spPr>
          <a:xfrm>
            <a:off x="4686300" y="1645920"/>
            <a:ext cx="186309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378" name="Text 378"/>
          <p:cNvSpPr/>
          <p:nvPr/>
        </p:nvSpPr>
        <p:spPr>
          <a:xfrm>
            <a:off x="4686300" y="0"/>
            <a:ext cx="186309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logged</a:t>
            </a:r>
            <a:endParaRPr lang="en-US" sz="1000" dirty="0"/>
          </a:p>
        </p:txBody>
      </p:sp>
      <p:sp>
        <p:nvSpPr>
          <p:cNvPr id="379" name="Shape 379"/>
          <p:cNvSpPr/>
          <p:nvPr/>
        </p:nvSpPr>
        <p:spPr>
          <a:xfrm>
            <a:off x="6777990" y="1417320"/>
            <a:ext cx="1863090" cy="146240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0" name="Text 380"/>
          <p:cNvSpPr/>
          <p:nvPr/>
        </p:nvSpPr>
        <p:spPr>
          <a:xfrm>
            <a:off x="6777990" y="1645920"/>
            <a:ext cx="186309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</a:rPr>
              <a:t>104</a:t>
            </a:r>
          </a:p>
        </p:txBody>
      </p:sp>
      <p:sp>
        <p:nvSpPr>
          <p:cNvPr id="381" name="Text 381"/>
          <p:cNvSpPr/>
          <p:nvPr/>
        </p:nvSpPr>
        <p:spPr>
          <a:xfrm>
            <a:off x="6777990" y="0"/>
            <a:ext cx="186309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defect rate</a:t>
            </a:r>
            <a:endParaRPr lang="en-US" sz="1000" dirty="0"/>
          </a:p>
        </p:txBody>
      </p:sp>
      <p:sp>
        <p:nvSpPr>
          <p:cNvPr id="382" name="Shape 382"/>
          <p:cNvSpPr/>
          <p:nvPr/>
        </p:nvSpPr>
        <p:spPr>
          <a:xfrm>
            <a:off x="502920" y="3108325"/>
            <a:ext cx="8138160" cy="183324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3" name="Text 383"/>
          <p:cNvSpPr/>
          <p:nvPr/>
        </p:nvSpPr>
        <p:spPr>
          <a:xfrm>
            <a:off x="731520" y="3336925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A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384" name="Text 384"/>
          <p:cNvSpPr/>
          <p:nvPr/>
        </p:nvSpPr>
        <p:spPr>
          <a:xfrm>
            <a:off x="731520" y="3656965"/>
            <a:ext cx="7680960" cy="1056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results are consolidated into the Combined Bug Report and this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Closure Report; TestNG produces per-module console/XML results for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suites, reviewed by each module owner ahead of merge.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dashboard (e.g. Allure, ExtentReports) is in place today 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Future Improvements.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 385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Encountered &amp; Lessons Learned</a:t>
            </a:r>
            <a:endParaRPr lang="en-US" sz="3200" dirty="0"/>
          </a:p>
        </p:txBody>
      </p:sp>
      <p:sp>
        <p:nvSpPr>
          <p:cNvPr id="386" name="Text 386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this cycle hard, and what it taught the team</a:t>
            </a:r>
            <a:endParaRPr lang="en-US" sz="1300" dirty="0"/>
          </a:p>
        </p:txBody>
      </p:sp>
      <p:sp>
        <p:nvSpPr>
          <p:cNvPr id="387" name="Shape 387"/>
          <p:cNvSpPr/>
          <p:nvPr/>
        </p:nvSpPr>
        <p:spPr>
          <a:xfrm>
            <a:off x="50292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8" name="Text 388"/>
          <p:cNvSpPr/>
          <p:nvPr/>
        </p:nvSpPr>
        <p:spPr>
          <a:xfrm>
            <a:off x="731520" y="164592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400" dirty="0"/>
          </a:p>
        </p:txBody>
      </p:sp>
      <p:sp>
        <p:nvSpPr>
          <p:cNvPr id="389" name="Text 389"/>
          <p:cNvSpPr/>
          <p:nvPr/>
        </p:nvSpPr>
        <p:spPr>
          <a:xfrm>
            <a:off x="731520" y="1965960"/>
            <a:ext cx="3497580" cy="274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locators across modules (id, xpath, className)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brittle automation on dynamic pages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BaseTest meant duplicated driver setup per module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issues (cart badge, page transitions) required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waits in place of Thread.sleep()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Wishlist/cart stock-validation bugs blocked several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automation scenarios</a:t>
            </a:r>
            <a:endParaRPr lang="en-US" sz="1100" dirty="0"/>
          </a:p>
        </p:txBody>
      </p:sp>
      <p:sp>
        <p:nvSpPr>
          <p:cNvPr id="390" name="Shape 390"/>
          <p:cNvSpPr/>
          <p:nvPr/>
        </p:nvSpPr>
        <p:spPr>
          <a:xfrm>
            <a:off x="4686300" y="1417320"/>
            <a:ext cx="3954780" cy="3524250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1" name="Text 391"/>
          <p:cNvSpPr/>
          <p:nvPr/>
        </p:nvSpPr>
        <p:spPr>
          <a:xfrm>
            <a:off x="4914900" y="164592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D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392" name="Text 392"/>
          <p:cNvSpPr/>
          <p:nvPr/>
        </p:nvSpPr>
        <p:spPr>
          <a:xfrm>
            <a:off x="4914900" y="1965960"/>
            <a:ext cx="3497580" cy="274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materially reduced maintenance cost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adopted, even without a shared base class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surfaced logic bugs that scripted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alone would have missed (wishlist bypass, etc.)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Standardising severity/priority definitions early made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60-defect backlog easier to triage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393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394" name="Text 394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 for the framework and process</a:t>
            </a:r>
            <a:endParaRPr lang="en-US" sz="1300" dirty="0"/>
          </a:p>
        </p:txBody>
      </p:sp>
      <p:sp>
        <p:nvSpPr>
          <p:cNvPr id="395" name="Shape 395"/>
          <p:cNvSpPr/>
          <p:nvPr/>
        </p:nvSpPr>
        <p:spPr>
          <a:xfrm>
            <a:off x="502920" y="1417320"/>
            <a:ext cx="2560320" cy="164782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6" name="Image 396" descr="icon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20040" cy="320040"/>
          </a:xfrm>
          <a:prstGeom prst="rect">
            <a:avLst/>
          </a:prstGeom>
        </p:spPr>
      </p:pic>
      <p:sp>
        <p:nvSpPr>
          <p:cNvPr id="397" name="Text 397"/>
          <p:cNvSpPr/>
          <p:nvPr/>
        </p:nvSpPr>
        <p:spPr>
          <a:xfrm>
            <a:off x="73152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the framework</a:t>
            </a:r>
            <a:endParaRPr lang="en-US" sz="1150" dirty="0"/>
          </a:p>
        </p:txBody>
      </p:sp>
      <p:sp>
        <p:nvSpPr>
          <p:cNvPr id="398" name="Text 398"/>
          <p:cNvSpPr/>
          <p:nvPr/>
        </p:nvSpPr>
        <p:spPr>
          <a:xfrm>
            <a:off x="731520" y="2377440"/>
            <a:ext cx="210312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Maven/Gradle project with a shared BaseTest &amp; config</a:t>
            </a:r>
            <a:endParaRPr lang="en-US" sz="950" dirty="0"/>
          </a:p>
        </p:txBody>
      </p:sp>
      <p:sp>
        <p:nvSpPr>
          <p:cNvPr id="399" name="Shape 399"/>
          <p:cNvSpPr/>
          <p:nvPr/>
        </p:nvSpPr>
        <p:spPr>
          <a:xfrm>
            <a:off x="3291840" y="1417320"/>
            <a:ext cx="2560320" cy="164782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0" name="Image 400" descr="icon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645920"/>
            <a:ext cx="320040" cy="320040"/>
          </a:xfrm>
          <a:prstGeom prst="rect">
            <a:avLst/>
          </a:prstGeom>
        </p:spPr>
      </p:pic>
      <p:sp>
        <p:nvSpPr>
          <p:cNvPr id="401" name="Text 401"/>
          <p:cNvSpPr/>
          <p:nvPr/>
        </p:nvSpPr>
        <p:spPr>
          <a:xfrm>
            <a:off x="352044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CI/CD</a:t>
            </a:r>
            <a:endParaRPr lang="en-US" sz="1150" dirty="0"/>
          </a:p>
        </p:txBody>
      </p:sp>
      <p:sp>
        <p:nvSpPr>
          <p:cNvPr id="402" name="Text 402"/>
          <p:cNvSpPr/>
          <p:nvPr/>
        </p:nvSpPr>
        <p:spPr>
          <a:xfrm>
            <a:off x="3520440" y="2377440"/>
            <a:ext cx="210312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to run the TestNG suites on every push</a:t>
            </a:r>
            <a:endParaRPr lang="en-US" sz="950" dirty="0"/>
          </a:p>
        </p:txBody>
      </p:sp>
      <p:sp>
        <p:nvSpPr>
          <p:cNvPr id="403" name="Shape 403"/>
          <p:cNvSpPr/>
          <p:nvPr/>
        </p:nvSpPr>
        <p:spPr>
          <a:xfrm>
            <a:off x="6080760" y="1417320"/>
            <a:ext cx="2560320" cy="164782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4" name="Image 404" descr="icon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45920"/>
            <a:ext cx="320040" cy="320040"/>
          </a:xfrm>
          <a:prstGeom prst="rect">
            <a:avLst/>
          </a:prstGeom>
        </p:spPr>
      </p:pic>
      <p:sp>
        <p:nvSpPr>
          <p:cNvPr id="405" name="Text 405"/>
          <p:cNvSpPr/>
          <p:nvPr/>
        </p:nvSpPr>
        <p:spPr>
          <a:xfrm>
            <a:off x="630936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reporting</a:t>
            </a:r>
            <a:endParaRPr lang="en-US" sz="1150" dirty="0"/>
          </a:p>
        </p:txBody>
      </p:sp>
      <p:sp>
        <p:nvSpPr>
          <p:cNvPr id="406" name="Text 406"/>
          <p:cNvSpPr/>
          <p:nvPr/>
        </p:nvSpPr>
        <p:spPr>
          <a:xfrm>
            <a:off x="6309360" y="2377440"/>
            <a:ext cx="210312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or ExtentReports across all 4 modules</a:t>
            </a:r>
            <a:endParaRPr lang="en-US" sz="950" dirty="0"/>
          </a:p>
        </p:txBody>
      </p:sp>
      <p:sp>
        <p:nvSpPr>
          <p:cNvPr id="407" name="Shape 407"/>
          <p:cNvSpPr/>
          <p:nvPr/>
        </p:nvSpPr>
        <p:spPr>
          <a:xfrm>
            <a:off x="502920" y="3293745"/>
            <a:ext cx="2560320" cy="164782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8" name="Image 408" descr="icon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22345"/>
            <a:ext cx="320040" cy="320040"/>
          </a:xfrm>
          <a:prstGeom prst="rect">
            <a:avLst/>
          </a:prstGeom>
        </p:spPr>
      </p:pic>
      <p:sp>
        <p:nvSpPr>
          <p:cNvPr id="409" name="Text 409"/>
          <p:cNvSpPr/>
          <p:nvPr/>
        </p:nvSpPr>
        <p:spPr>
          <a:xfrm>
            <a:off x="731520" y="3933825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Cucumber runner</a:t>
            </a:r>
            <a:endParaRPr lang="en-US" sz="1150" dirty="0"/>
          </a:p>
        </p:txBody>
      </p:sp>
      <p:sp>
        <p:nvSpPr>
          <p:cNvPr id="410" name="Text 410"/>
          <p:cNvSpPr/>
          <p:nvPr/>
        </p:nvSpPr>
        <p:spPr>
          <a:xfrm>
            <a:off x="731520" y="4253865"/>
            <a:ext cx="210312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Checkout step definitions into an executable suite</a:t>
            </a:r>
            <a:endParaRPr lang="en-US" sz="950" dirty="0"/>
          </a:p>
        </p:txBody>
      </p:sp>
      <p:sp>
        <p:nvSpPr>
          <p:cNvPr id="411" name="Shape 411"/>
          <p:cNvSpPr/>
          <p:nvPr/>
        </p:nvSpPr>
        <p:spPr>
          <a:xfrm>
            <a:off x="3291840" y="3293745"/>
            <a:ext cx="2560320" cy="164782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2" name="Image 412" descr="icon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3522345"/>
            <a:ext cx="320040" cy="320040"/>
          </a:xfrm>
          <a:prstGeom prst="rect">
            <a:avLst/>
          </a:prstGeom>
        </p:spPr>
      </p:pic>
      <p:sp>
        <p:nvSpPr>
          <p:cNvPr id="413" name="Text 413"/>
          <p:cNvSpPr/>
          <p:nvPr/>
        </p:nvSpPr>
        <p:spPr>
          <a:xfrm>
            <a:off x="3520440" y="3933825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hard waits</a:t>
            </a:r>
            <a:endParaRPr lang="en-US" sz="1150" dirty="0"/>
          </a:p>
        </p:txBody>
      </p:sp>
      <p:sp>
        <p:nvSpPr>
          <p:cNvPr id="414" name="Text 414"/>
          <p:cNvSpPr/>
          <p:nvPr/>
        </p:nvSpPr>
        <p:spPr>
          <a:xfrm>
            <a:off x="3520440" y="4253865"/>
            <a:ext cx="210312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Thread.sleep() for WebDriverWait everywhere</a:t>
            </a:r>
            <a:endParaRPr lang="en-US" sz="950" dirty="0"/>
          </a:p>
        </p:txBody>
      </p:sp>
      <p:sp>
        <p:nvSpPr>
          <p:cNvPr id="415" name="Shape 415"/>
          <p:cNvSpPr/>
          <p:nvPr/>
        </p:nvSpPr>
        <p:spPr>
          <a:xfrm>
            <a:off x="6080760" y="3293745"/>
            <a:ext cx="2560320" cy="1647825"/>
          </a:xfrm>
          <a:prstGeom prst="roundRect">
            <a:avLst>
              <a:gd name="adj" fmla="val 600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6" name="Image 416" descr="icon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522345"/>
            <a:ext cx="320040" cy="320040"/>
          </a:xfrm>
          <a:prstGeom prst="rect">
            <a:avLst/>
          </a:prstGeom>
        </p:spPr>
      </p:pic>
      <p:sp>
        <p:nvSpPr>
          <p:cNvPr id="417" name="Text 417"/>
          <p:cNvSpPr/>
          <p:nvPr/>
        </p:nvSpPr>
        <p:spPr>
          <a:xfrm>
            <a:off x="6309360" y="3933825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automation coverage</a:t>
            </a:r>
            <a:endParaRPr lang="en-US" sz="1150" dirty="0"/>
          </a:p>
        </p:txBody>
      </p:sp>
      <p:sp>
        <p:nvSpPr>
          <p:cNvPr id="418" name="Text 418"/>
          <p:cNvSpPr/>
          <p:nvPr/>
        </p:nvSpPr>
        <p:spPr>
          <a:xfrm>
            <a:off x="6309360" y="4253865"/>
            <a:ext cx="210312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smoke/regression into the Content module</a:t>
            </a:r>
            <a:endParaRPr lang="en-US" sz="9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assessment of release readiness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074920" cy="960120"/>
          </a:xfrm>
          <a:prstGeom prst="roundRect">
            <a:avLst>
              <a:gd name="adj" fmla="val 857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09928"/>
            <a:ext cx="457200" cy="457200"/>
          </a:xfrm>
          <a:prstGeom prst="ellipse">
            <a:avLst/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img/icon-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196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9105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overall quality</a:t>
            </a:r>
          </a:p>
        </p:txBody>
      </p:sp>
      <p:sp>
        <p:nvSpPr>
          <p:cNvPr id="8" name="Text 5"/>
          <p:cNvSpPr/>
          <p:nvPr/>
        </p:nvSpPr>
        <p:spPr>
          <a:xfrm>
            <a:off x="132588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of 145 cases passed — a 71.7% pass rate across all modules.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542032"/>
            <a:ext cx="5074920" cy="960120"/>
          </a:xfrm>
          <a:prstGeom prst="roundRect">
            <a:avLst>
              <a:gd name="adj" fmla="val 857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3232" y="2788920"/>
            <a:ext cx="457200" cy="457200"/>
          </a:xfrm>
          <a:prstGeom prst="ellipse">
            <a:avLst/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/img/icon-pie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986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670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coverage achieved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25880" y="2999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modules validated through both manual and Automation testing.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621024"/>
            <a:ext cx="5074920" cy="960120"/>
          </a:xfrm>
          <a:prstGeom prst="roundRect">
            <a:avLst>
              <a:gd name="adj" fmla="val 8571"/>
            </a:avLst>
          </a:prstGeom>
          <a:solidFill>
            <a:srgbClr val="15263B"/>
          </a:solidFill>
          <a:ln w="12700">
            <a:solidFill>
              <a:srgbClr val="2A3F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3232" y="3867912"/>
            <a:ext cx="457200" cy="457200"/>
          </a:xfrm>
          <a:prstGeom prst="ellipse">
            <a:avLst/>
          </a:prstGeom>
          <a:solidFill>
            <a:srgbClr val="1C3149"/>
          </a:solidFill>
          <a:ln w="12700">
            <a:solidFill>
              <a:srgbClr val="2A3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img/icon-shield-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7764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7490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defects to resolve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25880" y="40782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Critical, 27 Major, 27 Minor issues are logged and reproducible.</a:t>
            </a:r>
          </a:p>
        </p:txBody>
      </p:sp>
      <p:sp>
        <p:nvSpPr>
          <p:cNvPr id="19" name="Shape 14"/>
          <p:cNvSpPr/>
          <p:nvPr/>
        </p:nvSpPr>
        <p:spPr>
          <a:xfrm>
            <a:off x="5806440" y="1463040"/>
            <a:ext cx="2834640" cy="3118104"/>
          </a:xfrm>
          <a:prstGeom prst="roundRect">
            <a:avLst>
              <a:gd name="adj" fmla="val 2903"/>
            </a:avLst>
          </a:prstGeom>
          <a:solidFill>
            <a:srgbClr val="C1B807"/>
          </a:solidFill>
          <a:ln w="19050">
            <a:solidFill>
              <a:srgbClr val="FFC000"/>
            </a:solidFill>
            <a:prstDash val="solid"/>
          </a:ln>
          <a:effectLst>
            <a:outerShdw blurRad="114300" dist="38100" dir="54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8296AD"/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858000" y="1783080"/>
            <a:ext cx="777240" cy="777240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594360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5943600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No-Go</a:t>
            </a:r>
          </a:p>
        </p:txBody>
      </p:sp>
      <p:sp>
        <p:nvSpPr>
          <p:cNvPr id="24" name="Text 18"/>
          <p:cNvSpPr/>
          <p:nvPr/>
        </p:nvSpPr>
        <p:spPr>
          <a:xfrm>
            <a:off x="6023008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C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blocked until all 6 Critical defects are fixed and verified.</a:t>
            </a:r>
          </a:p>
          <a:p>
            <a:endParaRPr lang="en-US" sz="1150" dirty="0">
              <a:solidFill>
                <a:srgbClr val="CFE9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50" dirty="0">
                <a:solidFill>
                  <a:srgbClr val="C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27 Major and 27 Minor </a:t>
            </a:r>
          </a:p>
          <a:p>
            <a:r>
              <a:rPr lang="en-US" sz="1150" dirty="0">
                <a:solidFill>
                  <a:srgbClr val="C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can be triaged and scheduled after the Critical fixes land.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2094</Words>
  <Application>Microsoft Office PowerPoint</Application>
  <PresentationFormat>On-screen Show (16:9)</PresentationFormat>
  <Paragraphs>421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Siryan – Test Closure Report</dc:title>
  <dc:subject>PptxGenJS Presentation</dc:subject>
  <dc:creator>QA Team</dc:creator>
  <cp:lastModifiedBy>Joe</cp:lastModifiedBy>
  <cp:revision>3</cp:revision>
  <dcterms:created xsi:type="dcterms:W3CDTF">2026-06-16T13:09:28Z</dcterms:created>
  <dcterms:modified xsi:type="dcterms:W3CDTF">2026-07-13T08:22:19Z</dcterms:modified>
</cp:coreProperties>
</file>